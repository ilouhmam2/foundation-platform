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Aujourd'hui, l'objectif n'est pas juste de présenter un ensemble de modules Maven ou de starters Spring Boot. L'objectif est de montrer comment nous pouvons industrialiser la création de microservices Spring Boot, réduire la duplication, et fournir une base prête pour la production cohérente pour les futurs services.</a:t>
            </a:r>
          </a:p>
          <a:p/>
          <a:p>
            <a:r>
              <a:t>Ce socle est un accélérateur stratégique.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Lorsqu'une équipe démarre un nouveau microservice, elle commence rarement tout de suite par la logique métier. En premier lieu, il faut la sécurité, les logs, l'ID de corrélation, la gestion des erreurs API, l'observabilité, la configuration des données, le messaging, les clients et les tests. Ces sujets sont obligatoires, mais ils sont répétitifs et souvent réimplémentés différemment par chaque équipe.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coût n'est pas seulement le temps passé au début de chaque service. Le coût profond, c'est l'incohérence. Si chaque équipe implémente ses propres erreurs API, son mapping de sécurité, sa stratégie de logs, l'observabilité et les conventions de données, nous créons une friction à long terme pour la gouvernance de l'architecture, le support, les audits et les opérations.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foundation-platform transforme les sujets techniques récurrents en capacités réutilisables. L'approche n'est pas de créer un framework propriétaire lourd. L'approche est de rester proche de Spring Boot tout en packageant les conventions communes dans une fondation propre et réutilisable.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principes de conception sont essentiels pour l'adoption. foundation-platform est léger, natif Spring Boot, piloté par les dépendances et facile à surcharger (override). Il ne contient aucune logique métier. Il n'est pas couplé à un Fournisseur d'Identité spécifique. Il est conçu pour standardiser sans enfermer les équipes dans un modèle de programmation propriétaire.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plateforme est structurée autour de quatre groupes. En bas, nous avons la base de build avec le parent, le BOM et les composants communs. Au-dessus, les capacités obligatoires que chaque service reçoit. Ensuite, les capacités optionnelles ne sont sélectionnées qu'en cas de besoin. Enfin, l'archetype fournit le point d'entrée développeur pour générer un service.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L'expérience développeur est simple. Une équipe génère un nouveau service, sélectionne les capacités nécessaires, et obtient un projet prêt à coder avec la bonne architecture hexagonale et la base de référence. L'équipe peut se concentrer sur la logique métier au lieu de réinventer la configuration technique.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service généré inclut automatiquement la fondation obligatoire : core, conventions API, sécurité, logging, observabilité, mapping et tests. Cela signifie que même le service le plus simple démarre avec des standards d'entreprise cohérents et prêts pour la production.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capacités optionnelles ne sont sélectionnées que lorsque le service en a besoin. Un service d'API stateless n'a pas besoin de transporter de dépendances de données. Un service sans messagerie n'a pas besoin de NATS. Un service qui ne consomme pas de SOAP n'a pas besoin de CXF. Cela maintient la fondation modulaire et alignée sur les besoins réels du service, évitant l'effet 'gros framework'.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fondation est conçue pour un parcours de migration. Elle supporte les API REST modernes, les intégrations SOAP legacy via des clients WSDL, la messagerie NATS, les migrations de schémas Flyway, et les services s'exécutant derrière Gravitee. Cela permet une migration progressive plutôt qu'un big bang risqué.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gouvernance ne doit pas vivre uniquement dans des documents Word. Elle doit être intégrée dans l'expérience du développeur. Avec foundation-platform, de nombreuses normes d'architecture et de production sont incluses par défaut dans le service généré et les starters. La gouvernance devient automatique.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gain de productivité n'est pas seulement dû à la vitesse initiale. Le vrai gain est la répétabilité. Chaque nouveau service démarre avec la même base de référence, les mêmes conventions et le même niveau de qualité. Cela réduit les retouches, accélère les revues de code et diminue les risques en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L'adoption devient plus facile lorsque les limites sont claires. foundation-platform ne remplace pas Spring Boot, ne devient pas la plateforme de déploiement, n'intègre pas de logique métier et ne se couple pas à un fournisseur d'identité spécifique. Il se concentre exclusivement sur la base technique des services.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d'adoption est progressif. Les équipes peuvent commencer par un service généré, sélectionner uniquement les capacités requises, implémenter la logique métier et utiliser la chaîne de livraison existante (CI/CD). La fondation soutient l'adoption sans imposer une transformation 'big bang'.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foundation-platform réduit le coût de démarrage, le risque de divergence et l'effort de gouvernance des services Spring Boot. Construisez plus vite. Restez cohérents. Gardez la philosophie native Spring Boot. La prochaine étape est de valider l'adoption à travers un service pilote, de recueillir les retours et de passer à l'échelle progressivement.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1828800" y="2743200"/>
            <a:ext cx="1371600" cy="9144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926080"/>
            <a:ext cx="8229600" cy="1097280"/>
          </a:xfrm>
          <a:prstGeom prst="rect">
            <a:avLst/>
          </a:prstGeom>
          <a:noFill/>
        </p:spPr>
        <p:txBody>
          <a:bodyPr wrap="square">
            <a:spAutoFit/>
          </a:bodyPr>
          <a:lstStyle/>
          <a:p>
            <a:pPr algn="l"/>
            <a:r>
              <a:rPr sz="5600" b="1" i="0">
                <a:solidFill>
                  <a:srgbClr val="F8FAFC"/>
                </a:solidFill>
                <a:latin typeface="Arial"/>
              </a:rPr>
              <a:t>foundation-platform</a:t>
            </a:r>
          </a:p>
        </p:txBody>
      </p:sp>
      <p:sp>
        <p:nvSpPr>
          <p:cNvPr id="4" name="TextBox 3"/>
          <p:cNvSpPr txBox="1"/>
          <p:nvPr/>
        </p:nvSpPr>
        <p:spPr>
          <a:xfrm>
            <a:off x="1828800" y="4114800"/>
            <a:ext cx="8229600" cy="548640"/>
          </a:xfrm>
          <a:prstGeom prst="rect">
            <a:avLst/>
          </a:prstGeom>
          <a:noFill/>
        </p:spPr>
        <p:txBody>
          <a:bodyPr wrap="square">
            <a:spAutoFit/>
          </a:bodyPr>
          <a:lstStyle/>
          <a:p>
            <a:pPr algn="l"/>
            <a:r>
              <a:rPr sz="2400" b="0" i="0">
                <a:solidFill>
                  <a:srgbClr val="CBD5E1"/>
                </a:solidFill>
                <a:latin typeface="Arial"/>
              </a:rPr>
              <a:t>A faster way to build production-ready Spring Boot services</a:t>
            </a:r>
          </a:p>
        </p:txBody>
      </p:sp>
      <p:sp>
        <p:nvSpPr>
          <p:cNvPr id="5" name="TextBox 4"/>
          <p:cNvSpPr txBox="1"/>
          <p:nvPr/>
        </p:nvSpPr>
        <p:spPr>
          <a:xfrm>
            <a:off x="1828800" y="5029200"/>
            <a:ext cx="8229600" cy="457200"/>
          </a:xfrm>
          <a:prstGeom prst="rect">
            <a:avLst/>
          </a:prstGeom>
          <a:noFill/>
        </p:spPr>
        <p:txBody>
          <a:bodyPr wrap="square">
            <a:spAutoFit/>
          </a:bodyPr>
          <a:lstStyle/>
          <a:p>
            <a:pPr algn="l"/>
            <a:r>
              <a:rPr sz="1600" b="1" i="0">
                <a:solidFill>
                  <a:srgbClr val="22C55E"/>
                </a:solidFill>
                <a:latin typeface="Arial"/>
              </a:rPr>
              <a:t>Fast. Standardized. Production-ready.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Every new service starts with the same hidden work</a:t>
            </a:r>
          </a:p>
        </p:txBody>
      </p:sp>
      <p:sp>
        <p:nvSpPr>
          <p:cNvPr id="3" name="TextBox 2"/>
          <p:cNvSpPr txBox="1"/>
          <p:nvPr/>
        </p:nvSpPr>
        <p:spPr>
          <a:xfrm>
            <a:off x="731520" y="1097280"/>
            <a:ext cx="9144000" cy="457200"/>
          </a:xfrm>
          <a:prstGeom prst="rect">
            <a:avLst/>
          </a:prstGeom>
          <a:noFill/>
        </p:spPr>
        <p:txBody>
          <a:bodyPr wrap="square">
            <a:spAutoFit/>
          </a:bodyPr>
          <a:lstStyle/>
          <a:p>
            <a:pPr algn="l"/>
            <a:r>
              <a:rPr sz="1800" b="0" i="0">
                <a:solidFill>
                  <a:srgbClr val="CBD5E1"/>
                </a:solidFill>
                <a:latin typeface="Arial"/>
              </a:rPr>
              <a:t>Before business logic, teams rebuild the same technical foundation.</a:t>
            </a:r>
          </a:p>
        </p:txBody>
      </p:sp>
      <p:sp>
        <p:nvSpPr>
          <p:cNvPr id="4" name="Rectangle 3"/>
          <p:cNvSpPr/>
          <p:nvPr/>
        </p:nvSpPr>
        <p:spPr>
          <a:xfrm>
            <a:off x="1828800" y="2286000"/>
            <a:ext cx="1828800" cy="9144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2560320"/>
            <a:ext cx="1828800" cy="365760"/>
          </a:xfrm>
          <a:prstGeom prst="rect">
            <a:avLst/>
          </a:prstGeom>
          <a:noFill/>
        </p:spPr>
        <p:txBody>
          <a:bodyPr wrap="square">
            <a:spAutoFit/>
          </a:bodyPr>
          <a:lstStyle/>
          <a:p>
            <a:pPr algn="ctr"/>
            <a:r>
              <a:rPr sz="1400" b="0" i="0">
                <a:solidFill>
                  <a:srgbClr val="F8FAFC"/>
                </a:solidFill>
                <a:latin typeface="Arial"/>
              </a:rPr>
              <a:t>Security</a:t>
            </a:r>
          </a:p>
        </p:txBody>
      </p:sp>
      <p:sp>
        <p:nvSpPr>
          <p:cNvPr id="6" name="Rectangle 5"/>
          <p:cNvSpPr/>
          <p:nvPr/>
        </p:nvSpPr>
        <p:spPr>
          <a:xfrm>
            <a:off x="4114800" y="2286000"/>
            <a:ext cx="1828800" cy="9144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0" y="2560320"/>
            <a:ext cx="1828800" cy="365760"/>
          </a:xfrm>
          <a:prstGeom prst="rect">
            <a:avLst/>
          </a:prstGeom>
          <a:noFill/>
        </p:spPr>
        <p:txBody>
          <a:bodyPr wrap="square">
            <a:spAutoFit/>
          </a:bodyPr>
          <a:lstStyle/>
          <a:p>
            <a:pPr algn="ctr"/>
            <a:r>
              <a:rPr sz="1400" b="0" i="0">
                <a:solidFill>
                  <a:srgbClr val="F8FAFC"/>
                </a:solidFill>
                <a:latin typeface="Arial"/>
              </a:rPr>
              <a:t>Logging</a:t>
            </a:r>
          </a:p>
        </p:txBody>
      </p:sp>
      <p:sp>
        <p:nvSpPr>
          <p:cNvPr id="8" name="Rectangle 7"/>
          <p:cNvSpPr/>
          <p:nvPr/>
        </p:nvSpPr>
        <p:spPr>
          <a:xfrm>
            <a:off x="6400800" y="2286000"/>
            <a:ext cx="1828800" cy="9144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560320"/>
            <a:ext cx="1828800" cy="365760"/>
          </a:xfrm>
          <a:prstGeom prst="rect">
            <a:avLst/>
          </a:prstGeom>
          <a:noFill/>
        </p:spPr>
        <p:txBody>
          <a:bodyPr wrap="square">
            <a:spAutoFit/>
          </a:bodyPr>
          <a:lstStyle/>
          <a:p>
            <a:pPr algn="ctr"/>
            <a:r>
              <a:rPr sz="1400" b="0" i="0">
                <a:solidFill>
                  <a:srgbClr val="F8FAFC"/>
                </a:solidFill>
                <a:latin typeface="Arial"/>
              </a:rPr>
              <a:t>Observability</a:t>
            </a:r>
          </a:p>
        </p:txBody>
      </p:sp>
      <p:sp>
        <p:nvSpPr>
          <p:cNvPr id="10" name="Rectangle 9"/>
          <p:cNvSpPr/>
          <p:nvPr/>
        </p:nvSpPr>
        <p:spPr>
          <a:xfrm>
            <a:off x="8686800" y="2286000"/>
            <a:ext cx="1828800" cy="9144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2560320"/>
            <a:ext cx="1828800" cy="365760"/>
          </a:xfrm>
          <a:prstGeom prst="rect">
            <a:avLst/>
          </a:prstGeom>
          <a:noFill/>
        </p:spPr>
        <p:txBody>
          <a:bodyPr wrap="square">
            <a:spAutoFit/>
          </a:bodyPr>
          <a:lstStyle/>
          <a:p>
            <a:pPr algn="ctr"/>
            <a:r>
              <a:rPr sz="1400" b="0" i="0">
                <a:solidFill>
                  <a:srgbClr val="F8FAFC"/>
                </a:solidFill>
                <a:latin typeface="Arial"/>
              </a:rPr>
              <a:t>API errors</a:t>
            </a:r>
          </a:p>
        </p:txBody>
      </p:sp>
      <p:sp>
        <p:nvSpPr>
          <p:cNvPr id="12" name="Rectangle 11"/>
          <p:cNvSpPr/>
          <p:nvPr/>
        </p:nvSpPr>
        <p:spPr>
          <a:xfrm>
            <a:off x="1828800" y="3657600"/>
            <a:ext cx="1828800" cy="9144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800" y="3931920"/>
            <a:ext cx="1828800" cy="365760"/>
          </a:xfrm>
          <a:prstGeom prst="rect">
            <a:avLst/>
          </a:prstGeom>
          <a:noFill/>
        </p:spPr>
        <p:txBody>
          <a:bodyPr wrap="square">
            <a:spAutoFit/>
          </a:bodyPr>
          <a:lstStyle/>
          <a:p>
            <a:pPr algn="ctr"/>
            <a:r>
              <a:rPr sz="1400" b="0" i="0">
                <a:solidFill>
                  <a:srgbClr val="F8FAFC"/>
                </a:solidFill>
                <a:latin typeface="Arial"/>
              </a:rPr>
              <a:t>Data setup</a:t>
            </a:r>
          </a:p>
        </p:txBody>
      </p:sp>
      <p:sp>
        <p:nvSpPr>
          <p:cNvPr id="14" name="Rectangle 13"/>
          <p:cNvSpPr/>
          <p:nvPr/>
        </p:nvSpPr>
        <p:spPr>
          <a:xfrm>
            <a:off x="4114800" y="3657600"/>
            <a:ext cx="1828800" cy="9144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0" y="3931920"/>
            <a:ext cx="1828800" cy="365760"/>
          </a:xfrm>
          <a:prstGeom prst="rect">
            <a:avLst/>
          </a:prstGeom>
          <a:noFill/>
        </p:spPr>
        <p:txBody>
          <a:bodyPr wrap="square">
            <a:spAutoFit/>
          </a:bodyPr>
          <a:lstStyle/>
          <a:p>
            <a:pPr algn="ctr"/>
            <a:r>
              <a:rPr sz="1400" b="0" i="0">
                <a:solidFill>
                  <a:srgbClr val="F8FAFC"/>
                </a:solidFill>
                <a:latin typeface="Arial"/>
              </a:rPr>
              <a:t>Messaging</a:t>
            </a:r>
          </a:p>
        </p:txBody>
      </p:sp>
      <p:sp>
        <p:nvSpPr>
          <p:cNvPr id="16" name="Rectangle 15"/>
          <p:cNvSpPr/>
          <p:nvPr/>
        </p:nvSpPr>
        <p:spPr>
          <a:xfrm>
            <a:off x="6400800" y="3657600"/>
            <a:ext cx="1828800" cy="9144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931920"/>
            <a:ext cx="1828800" cy="365760"/>
          </a:xfrm>
          <a:prstGeom prst="rect">
            <a:avLst/>
          </a:prstGeom>
          <a:noFill/>
        </p:spPr>
        <p:txBody>
          <a:bodyPr wrap="square">
            <a:spAutoFit/>
          </a:bodyPr>
          <a:lstStyle/>
          <a:p>
            <a:pPr algn="ctr"/>
            <a:r>
              <a:rPr sz="1400" b="0" i="0">
                <a:solidFill>
                  <a:srgbClr val="F8FAFC"/>
                </a:solidFill>
                <a:latin typeface="Arial"/>
              </a:rPr>
              <a:t>Clients</a:t>
            </a:r>
          </a:p>
        </p:txBody>
      </p:sp>
      <p:sp>
        <p:nvSpPr>
          <p:cNvPr id="18" name="Rectangle 17"/>
          <p:cNvSpPr/>
          <p:nvPr/>
        </p:nvSpPr>
        <p:spPr>
          <a:xfrm>
            <a:off x="8686800" y="3657600"/>
            <a:ext cx="1828800" cy="9144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0" y="3931920"/>
            <a:ext cx="1828800" cy="365760"/>
          </a:xfrm>
          <a:prstGeom prst="rect">
            <a:avLst/>
          </a:prstGeom>
          <a:noFill/>
        </p:spPr>
        <p:txBody>
          <a:bodyPr wrap="square">
            <a:spAutoFit/>
          </a:bodyPr>
          <a:lstStyle/>
          <a:p>
            <a:pPr algn="ctr"/>
            <a:r>
              <a:rPr sz="1400" b="0" i="0">
                <a:solidFill>
                  <a:srgbClr val="F8FAFC"/>
                </a:solidFill>
                <a:latin typeface="Arial"/>
              </a:rPr>
              <a:t>Tests</a:t>
            </a:r>
          </a:p>
        </p:txBody>
      </p:sp>
      <p:sp>
        <p:nvSpPr>
          <p:cNvPr id="20" name="TextBox 19"/>
          <p:cNvSpPr txBox="1"/>
          <p:nvPr/>
        </p:nvSpPr>
        <p:spPr>
          <a:xfrm>
            <a:off x="731520" y="5486400"/>
            <a:ext cx="10058400" cy="457200"/>
          </a:xfrm>
          <a:prstGeom prst="rect">
            <a:avLst/>
          </a:prstGeom>
          <a:noFill/>
        </p:spPr>
        <p:txBody>
          <a:bodyPr wrap="square">
            <a:spAutoFit/>
          </a:bodyPr>
          <a:lstStyle/>
          <a:p>
            <a:pPr algn="ctr"/>
            <a:r>
              <a:rPr sz="1600" b="0" i="1">
                <a:solidFill>
                  <a:srgbClr val="94A3B8"/>
                </a:solidFill>
                <a:latin typeface="Arial"/>
              </a:rPr>
              <a:t>At the center, the developer struggles to start...</a:t>
            </a:r>
          </a:p>
        </p:txBody>
      </p:sp>
      <p:sp>
        <p:nvSpPr>
          <p:cNvPr id="21" name="TextBox 20"/>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22" name="TextBox 21"/>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The real cost is not only time. It is inconsistency.</a:t>
            </a:r>
          </a:p>
        </p:txBody>
      </p:sp>
      <p:sp>
        <p:nvSpPr>
          <p:cNvPr id="3" name="TextBox 2"/>
          <p:cNvSpPr txBox="1"/>
          <p:nvPr/>
        </p:nvSpPr>
        <p:spPr>
          <a:xfrm>
            <a:off x="914400" y="2011680"/>
            <a:ext cx="4572000" cy="3657600"/>
          </a:xfrm>
          <a:prstGeom prst="rect">
            <a:avLst/>
          </a:prstGeom>
          <a:noFill/>
        </p:spPr>
        <p:txBody>
          <a:bodyPr wrap="square">
            <a:spAutoFit/>
          </a:bodyPr>
          <a:lstStyle/>
          <a:p>
            <a:r>
              <a:rPr sz="2000">
                <a:solidFill>
                  <a:srgbClr val="CBD5E1"/>
                </a:solidFill>
                <a:latin typeface="Arial"/>
              </a:rPr>
              <a:t>• Duplicated setup</a:t>
            </a:r>
          </a:p>
          <a:p>
            <a:pPr>
              <a:spcBef>
                <a:spcPts val="1600"/>
              </a:spcBef>
            </a:pPr>
            <a:r>
              <a:rPr sz="2000">
                <a:solidFill>
                  <a:srgbClr val="CBD5E1"/>
                </a:solidFill>
                <a:latin typeface="Arial"/>
              </a:rPr>
              <a:t>• Different patterns</a:t>
            </a:r>
          </a:p>
          <a:p>
            <a:pPr>
              <a:spcBef>
                <a:spcPts val="1600"/>
              </a:spcBef>
            </a:pPr>
            <a:r>
              <a:rPr sz="2000">
                <a:solidFill>
                  <a:srgbClr val="CBD5E1"/>
                </a:solidFill>
                <a:latin typeface="Arial"/>
              </a:rPr>
              <a:t>• Harder reviews</a:t>
            </a:r>
          </a:p>
          <a:p>
            <a:pPr>
              <a:spcBef>
                <a:spcPts val="1600"/>
              </a:spcBef>
            </a:pPr>
            <a:r>
              <a:rPr sz="2000">
                <a:solidFill>
                  <a:srgbClr val="CBD5E1"/>
                </a:solidFill>
                <a:latin typeface="Arial"/>
              </a:rPr>
              <a:t>• Uneven production readiness</a:t>
            </a:r>
          </a:p>
          <a:p>
            <a:pPr>
              <a:spcBef>
                <a:spcPts val="1600"/>
              </a:spcBef>
            </a:pPr>
            <a:r>
              <a:rPr sz="2000">
                <a:solidFill>
                  <a:srgbClr val="CBD5E1"/>
                </a:solidFill>
                <a:latin typeface="Arial"/>
              </a:rPr>
              <a:t>• Slower onboarding</a:t>
            </a:r>
          </a:p>
        </p:txBody>
      </p:sp>
      <p:sp>
        <p:nvSpPr>
          <p:cNvPr id="4" name="Rectangle 3"/>
          <p:cNvSpPr/>
          <p:nvPr/>
        </p:nvSpPr>
        <p:spPr>
          <a:xfrm>
            <a:off x="5943600" y="2011680"/>
            <a:ext cx="2560320" cy="3200400"/>
          </a:xfrm>
          <a:prstGeom prst="rect">
            <a:avLst/>
          </a:prstGeom>
          <a:solidFill>
            <a:srgbClr val="1E293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0" y="2011680"/>
            <a:ext cx="2560320" cy="3200400"/>
          </a:xfrm>
          <a:prstGeom prst="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0" y="3200400"/>
            <a:ext cx="2560320" cy="914400"/>
          </a:xfrm>
          <a:prstGeom prst="rect">
            <a:avLst/>
          </a:prstGeom>
          <a:noFill/>
        </p:spPr>
        <p:txBody>
          <a:bodyPr wrap="square">
            <a:spAutoFit/>
          </a:bodyPr>
          <a:lstStyle/>
          <a:p>
            <a:pPr algn="ctr"/>
            <a:r>
              <a:rPr sz="1400" b="0" i="0">
                <a:solidFill>
                  <a:srgbClr val="CBD5E1"/>
                </a:solidFill>
                <a:latin typeface="Arial"/>
              </a:rPr>
              <a:t>Service A
(Custom Security, weak logs)</a:t>
            </a:r>
          </a:p>
        </p:txBody>
      </p:sp>
      <p:sp>
        <p:nvSpPr>
          <p:cNvPr id="7" name="TextBox 6"/>
          <p:cNvSpPr txBox="1"/>
          <p:nvPr/>
        </p:nvSpPr>
        <p:spPr>
          <a:xfrm>
            <a:off x="8686800" y="3200400"/>
            <a:ext cx="2560320" cy="914400"/>
          </a:xfrm>
          <a:prstGeom prst="rect">
            <a:avLst/>
          </a:prstGeom>
          <a:noFill/>
        </p:spPr>
        <p:txBody>
          <a:bodyPr wrap="square">
            <a:spAutoFit/>
          </a:bodyPr>
          <a:lstStyle/>
          <a:p>
            <a:pPr algn="ctr"/>
            <a:r>
              <a:rPr sz="1400" b="0" i="0">
                <a:solidFill>
                  <a:srgbClr val="CBD5E1"/>
                </a:solidFill>
                <a:latin typeface="Arial"/>
              </a:rPr>
              <a:t>Service B
(Different Error formats)</a:t>
            </a:r>
          </a:p>
        </p:txBody>
      </p:sp>
      <p:sp>
        <p:nvSpPr>
          <p:cNvPr id="8" name="TextBox 7"/>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9" name="TextBox 8"/>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From repeated setup to a governed foundation</a:t>
            </a:r>
          </a:p>
        </p:txBody>
      </p:sp>
      <p:sp>
        <p:nvSpPr>
          <p:cNvPr id="3" name="TextBox 2"/>
          <p:cNvSpPr txBox="1"/>
          <p:nvPr/>
        </p:nvSpPr>
        <p:spPr>
          <a:xfrm>
            <a:off x="914400" y="2743200"/>
            <a:ext cx="3657600" cy="2743200"/>
          </a:xfrm>
          <a:prstGeom prst="rect">
            <a:avLst/>
          </a:prstGeom>
          <a:noFill/>
        </p:spPr>
        <p:txBody>
          <a:bodyPr wrap="square">
            <a:spAutoFit/>
          </a:bodyPr>
          <a:lstStyle/>
          <a:p>
            <a:r>
              <a:rPr sz="2000">
                <a:solidFill>
                  <a:srgbClr val="38BDF8"/>
                </a:solidFill>
                <a:latin typeface="Arial"/>
              </a:rPr>
              <a:t>One foundation.</a:t>
            </a:r>
          </a:p>
          <a:p>
            <a:pPr>
              <a:spcBef>
                <a:spcPts val="1600"/>
              </a:spcBef>
            </a:pPr>
            <a:r>
              <a:rPr sz="2000">
                <a:solidFill>
                  <a:srgbClr val="38BDF8"/>
                </a:solidFill>
                <a:latin typeface="Arial"/>
              </a:rPr>
              <a:t>Reusable capabilities.</a:t>
            </a:r>
          </a:p>
          <a:p>
            <a:pPr>
              <a:spcBef>
                <a:spcPts val="1600"/>
              </a:spcBef>
            </a:pPr>
            <a:r>
              <a:rPr sz="2000">
                <a:solidFill>
                  <a:srgbClr val="38BDF8"/>
                </a:solidFill>
                <a:latin typeface="Arial"/>
              </a:rPr>
              <a:t>Consistent services.</a:t>
            </a:r>
          </a:p>
          <a:p>
            <a:pPr>
              <a:spcBef>
                <a:spcPts val="1600"/>
              </a:spcBef>
            </a:pPr>
            <a:r>
              <a:rPr sz="2000">
                <a:solidFill>
                  <a:srgbClr val="38BDF8"/>
                </a:solidFill>
                <a:latin typeface="Arial"/>
              </a:rPr>
              <a:t>Faster delivery.</a:t>
            </a:r>
          </a:p>
        </p:txBody>
      </p:sp>
      <p:sp>
        <p:nvSpPr>
          <p:cNvPr id="4" name="Rectangle 3"/>
          <p:cNvSpPr/>
          <p:nvPr/>
        </p:nvSpPr>
        <p:spPr>
          <a:xfrm>
            <a:off x="5029200" y="2926080"/>
            <a:ext cx="2286000" cy="9144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0" y="3200400"/>
            <a:ext cx="2286000" cy="365760"/>
          </a:xfrm>
          <a:prstGeom prst="rect">
            <a:avLst/>
          </a:prstGeom>
          <a:noFill/>
        </p:spPr>
        <p:txBody>
          <a:bodyPr wrap="square">
            <a:spAutoFit/>
          </a:bodyPr>
          <a:lstStyle/>
          <a:p>
            <a:pPr algn="ctr"/>
            <a:r>
              <a:rPr sz="1400" b="0" i="0">
                <a:solidFill>
                  <a:srgbClr val="F8FAFC"/>
                </a:solidFill>
                <a:latin typeface="Arial"/>
              </a:rPr>
              <a:t>Repeated setup</a:t>
            </a:r>
          </a:p>
        </p:txBody>
      </p:sp>
      <p:sp>
        <p:nvSpPr>
          <p:cNvPr id="6" name="TextBox 5"/>
          <p:cNvSpPr txBox="1"/>
          <p:nvPr/>
        </p:nvSpPr>
        <p:spPr>
          <a:xfrm>
            <a:off x="7315200" y="3200400"/>
            <a:ext cx="457200" cy="365760"/>
          </a:xfrm>
          <a:prstGeom prst="rect">
            <a:avLst/>
          </a:prstGeom>
          <a:noFill/>
        </p:spPr>
        <p:txBody>
          <a:bodyPr wrap="square">
            <a:spAutoFit/>
          </a:bodyPr>
          <a:lstStyle/>
          <a:p>
            <a:pPr algn="l"/>
            <a:r>
              <a:rPr sz="2400" b="0" i="0">
                <a:solidFill>
                  <a:srgbClr val="38BDF8"/>
                </a:solidFill>
                <a:latin typeface="Arial"/>
              </a:rPr>
              <a:t>→</a:t>
            </a:r>
          </a:p>
        </p:txBody>
      </p:sp>
      <p:sp>
        <p:nvSpPr>
          <p:cNvPr id="7" name="Rectangle 6"/>
          <p:cNvSpPr/>
          <p:nvPr/>
        </p:nvSpPr>
        <p:spPr>
          <a:xfrm>
            <a:off x="7772400" y="2560320"/>
            <a:ext cx="2286000" cy="1645920"/>
          </a:xfrm>
          <a:prstGeom prst="rect">
            <a:avLst/>
          </a:prstGeom>
          <a:solidFill>
            <a:srgbClr val="111827"/>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3200400"/>
            <a:ext cx="2286000" cy="365760"/>
          </a:xfrm>
          <a:prstGeom prst="rect">
            <a:avLst/>
          </a:prstGeom>
          <a:noFill/>
        </p:spPr>
        <p:txBody>
          <a:bodyPr wrap="square">
            <a:spAutoFit/>
          </a:bodyPr>
          <a:lstStyle/>
          <a:p>
            <a:pPr algn="ctr"/>
            <a:r>
              <a:rPr sz="1400" b="1" i="0">
                <a:solidFill>
                  <a:srgbClr val="38BDF8"/>
                </a:solidFill>
                <a:latin typeface="Arial"/>
              </a:rPr>
              <a:t>foundation-platform</a:t>
            </a:r>
          </a:p>
        </p:txBody>
      </p:sp>
      <p:sp>
        <p:nvSpPr>
          <p:cNvPr id="9" name="TextBox 8"/>
          <p:cNvSpPr txBox="1"/>
          <p:nvPr/>
        </p:nvSpPr>
        <p:spPr>
          <a:xfrm>
            <a:off x="10058400" y="3200400"/>
            <a:ext cx="457200" cy="365760"/>
          </a:xfrm>
          <a:prstGeom prst="rect">
            <a:avLst/>
          </a:prstGeom>
          <a:noFill/>
        </p:spPr>
        <p:txBody>
          <a:bodyPr wrap="square">
            <a:spAutoFit/>
          </a:bodyPr>
          <a:lstStyle/>
          <a:p>
            <a:pPr algn="l"/>
            <a:r>
              <a:rPr sz="2400" b="0" i="0">
                <a:solidFill>
                  <a:srgbClr val="38BDF8"/>
                </a:solidFill>
                <a:latin typeface="Arial"/>
              </a:rPr>
              <a:t>→</a:t>
            </a:r>
          </a:p>
        </p:txBody>
      </p:sp>
      <p:sp>
        <p:nvSpPr>
          <p:cNvPr id="10" name="Rectangle 9"/>
          <p:cNvSpPr/>
          <p:nvPr/>
        </p:nvSpPr>
        <p:spPr>
          <a:xfrm>
            <a:off x="10515600" y="2286000"/>
            <a:ext cx="1371600" cy="54864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515600" y="3108960"/>
            <a:ext cx="1371600" cy="54864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515600" y="3931920"/>
            <a:ext cx="1371600" cy="54864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0" y="2560320"/>
            <a:ext cx="1371600" cy="1371600"/>
          </a:xfrm>
          <a:prstGeom prst="rect">
            <a:avLst/>
          </a:prstGeom>
          <a:noFill/>
        </p:spPr>
        <p:txBody>
          <a:bodyPr wrap="square">
            <a:spAutoFit/>
          </a:bodyPr>
          <a:lstStyle/>
          <a:p>
            <a:pPr algn="ctr"/>
            <a:r>
              <a:rPr sz="1200" b="0" i="0">
                <a:solidFill>
                  <a:srgbClr val="F8FAFC"/>
                </a:solidFill>
                <a:latin typeface="Arial"/>
              </a:rPr>
              <a:t>Standardized
Services</a:t>
            </a:r>
          </a:p>
        </p:txBody>
      </p:sp>
      <p:sp>
        <p:nvSpPr>
          <p:cNvPr id="14" name="TextBox 13"/>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15" name="TextBox 14"/>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Designed to accelerate, not to lock in</a:t>
            </a:r>
          </a:p>
        </p:txBody>
      </p:sp>
      <p:sp>
        <p:nvSpPr>
          <p:cNvPr id="3" name="Rectangle 2"/>
          <p:cNvSpPr/>
          <p:nvPr/>
        </p:nvSpPr>
        <p:spPr>
          <a:xfrm>
            <a:off x="914400" y="2286000"/>
            <a:ext cx="3108960" cy="164592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2286000"/>
            <a:ext cx="310896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468880"/>
            <a:ext cx="2560320" cy="457200"/>
          </a:xfrm>
          <a:prstGeom prst="rect">
            <a:avLst/>
          </a:prstGeom>
          <a:noFill/>
        </p:spPr>
        <p:txBody>
          <a:bodyPr wrap="square">
            <a:spAutoFit/>
          </a:bodyPr>
          <a:lstStyle/>
          <a:p>
            <a:pPr algn="l"/>
            <a:r>
              <a:rPr sz="1800" b="1" i="0">
                <a:solidFill>
                  <a:srgbClr val="F8FAFC"/>
                </a:solidFill>
                <a:latin typeface="Arial"/>
              </a:rPr>
              <a:t>Lightweight</a:t>
            </a:r>
          </a:p>
        </p:txBody>
      </p:sp>
      <p:sp>
        <p:nvSpPr>
          <p:cNvPr id="6" name="TextBox 5"/>
          <p:cNvSpPr txBox="1"/>
          <p:nvPr/>
        </p:nvSpPr>
        <p:spPr>
          <a:xfrm>
            <a:off x="1188720" y="3017520"/>
            <a:ext cx="2560320" cy="731520"/>
          </a:xfrm>
          <a:prstGeom prst="rect">
            <a:avLst/>
          </a:prstGeom>
          <a:noFill/>
        </p:spPr>
        <p:txBody>
          <a:bodyPr wrap="square">
            <a:spAutoFit/>
          </a:bodyPr>
          <a:lstStyle/>
          <a:p>
            <a:r>
              <a:rPr sz="1400">
                <a:solidFill>
                  <a:srgbClr val="CBD5E1"/>
                </a:solidFill>
                <a:latin typeface="Arial"/>
              </a:rPr>
              <a:t>No heavy abstractions</a:t>
            </a:r>
          </a:p>
        </p:txBody>
      </p:sp>
      <p:sp>
        <p:nvSpPr>
          <p:cNvPr id="7" name="Rectangle 6"/>
          <p:cNvSpPr/>
          <p:nvPr/>
        </p:nvSpPr>
        <p:spPr>
          <a:xfrm>
            <a:off x="4389120" y="2286000"/>
            <a:ext cx="3108960" cy="164592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0" y="2286000"/>
            <a:ext cx="310896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2468880"/>
            <a:ext cx="2560320" cy="457200"/>
          </a:xfrm>
          <a:prstGeom prst="rect">
            <a:avLst/>
          </a:prstGeom>
          <a:noFill/>
        </p:spPr>
        <p:txBody>
          <a:bodyPr wrap="square">
            <a:spAutoFit/>
          </a:bodyPr>
          <a:lstStyle/>
          <a:p>
            <a:pPr algn="l"/>
            <a:r>
              <a:rPr sz="1800" b="1" i="0">
                <a:solidFill>
                  <a:srgbClr val="F8FAFC"/>
                </a:solidFill>
                <a:latin typeface="Arial"/>
              </a:rPr>
              <a:t>Spring Boot-native</a:t>
            </a:r>
          </a:p>
        </p:txBody>
      </p:sp>
      <p:sp>
        <p:nvSpPr>
          <p:cNvPr id="10" name="TextBox 9"/>
          <p:cNvSpPr txBox="1"/>
          <p:nvPr/>
        </p:nvSpPr>
        <p:spPr>
          <a:xfrm>
            <a:off x="4663440" y="3017520"/>
            <a:ext cx="2560320" cy="731520"/>
          </a:xfrm>
          <a:prstGeom prst="rect">
            <a:avLst/>
          </a:prstGeom>
          <a:noFill/>
        </p:spPr>
        <p:txBody>
          <a:bodyPr wrap="square">
            <a:spAutoFit/>
          </a:bodyPr>
          <a:lstStyle/>
          <a:p>
            <a:r>
              <a:rPr sz="1400">
                <a:solidFill>
                  <a:srgbClr val="CBD5E1"/>
                </a:solidFill>
                <a:latin typeface="Arial"/>
              </a:rPr>
              <a:t>Standard ecosystem</a:t>
            </a:r>
          </a:p>
        </p:txBody>
      </p:sp>
      <p:sp>
        <p:nvSpPr>
          <p:cNvPr id="11" name="Rectangle 10"/>
          <p:cNvSpPr/>
          <p:nvPr/>
        </p:nvSpPr>
        <p:spPr>
          <a:xfrm>
            <a:off x="7863840" y="2286000"/>
            <a:ext cx="3108960" cy="164592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63840" y="2286000"/>
            <a:ext cx="310896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2468880"/>
            <a:ext cx="2560320" cy="457200"/>
          </a:xfrm>
          <a:prstGeom prst="rect">
            <a:avLst/>
          </a:prstGeom>
          <a:noFill/>
        </p:spPr>
        <p:txBody>
          <a:bodyPr wrap="square">
            <a:spAutoFit/>
          </a:bodyPr>
          <a:lstStyle/>
          <a:p>
            <a:pPr algn="l"/>
            <a:r>
              <a:rPr sz="1800" b="1" i="0">
                <a:solidFill>
                  <a:srgbClr val="F8FAFC"/>
                </a:solidFill>
                <a:latin typeface="Arial"/>
              </a:rPr>
              <a:t>Dependency-driven</a:t>
            </a:r>
          </a:p>
        </p:txBody>
      </p:sp>
      <p:sp>
        <p:nvSpPr>
          <p:cNvPr id="14" name="TextBox 13"/>
          <p:cNvSpPr txBox="1"/>
          <p:nvPr/>
        </p:nvSpPr>
        <p:spPr>
          <a:xfrm>
            <a:off x="8138160" y="3017520"/>
            <a:ext cx="2560320" cy="731520"/>
          </a:xfrm>
          <a:prstGeom prst="rect">
            <a:avLst/>
          </a:prstGeom>
          <a:noFill/>
        </p:spPr>
        <p:txBody>
          <a:bodyPr wrap="square">
            <a:spAutoFit/>
          </a:bodyPr>
          <a:lstStyle/>
          <a:p>
            <a:r>
              <a:rPr sz="1400">
                <a:solidFill>
                  <a:srgbClr val="CBD5E1"/>
                </a:solidFill>
                <a:latin typeface="Arial"/>
              </a:rPr>
              <a:t>Pick only what you need</a:t>
            </a:r>
          </a:p>
        </p:txBody>
      </p:sp>
      <p:sp>
        <p:nvSpPr>
          <p:cNvPr id="15" name="Rectangle 14"/>
          <p:cNvSpPr/>
          <p:nvPr/>
        </p:nvSpPr>
        <p:spPr>
          <a:xfrm>
            <a:off x="914400" y="4297680"/>
            <a:ext cx="3108960" cy="164592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4400" y="4297680"/>
            <a:ext cx="310896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4480560"/>
            <a:ext cx="2560320" cy="457200"/>
          </a:xfrm>
          <a:prstGeom prst="rect">
            <a:avLst/>
          </a:prstGeom>
          <a:noFill/>
        </p:spPr>
        <p:txBody>
          <a:bodyPr wrap="square">
            <a:spAutoFit/>
          </a:bodyPr>
          <a:lstStyle/>
          <a:p>
            <a:pPr algn="l"/>
            <a:r>
              <a:rPr sz="1800" b="1" i="0">
                <a:solidFill>
                  <a:srgbClr val="F8FAFC"/>
                </a:solidFill>
                <a:latin typeface="Arial"/>
              </a:rPr>
              <a:t>Override-friendly</a:t>
            </a:r>
          </a:p>
        </p:txBody>
      </p:sp>
      <p:sp>
        <p:nvSpPr>
          <p:cNvPr id="18" name="TextBox 17"/>
          <p:cNvSpPr txBox="1"/>
          <p:nvPr/>
        </p:nvSpPr>
        <p:spPr>
          <a:xfrm>
            <a:off x="1188720" y="5029200"/>
            <a:ext cx="2560320" cy="731520"/>
          </a:xfrm>
          <a:prstGeom prst="rect">
            <a:avLst/>
          </a:prstGeom>
          <a:noFill/>
        </p:spPr>
        <p:txBody>
          <a:bodyPr wrap="square">
            <a:spAutoFit/>
          </a:bodyPr>
          <a:lstStyle/>
          <a:p>
            <a:r>
              <a:rPr sz="1400">
                <a:solidFill>
                  <a:srgbClr val="CBD5E1"/>
                </a:solidFill>
                <a:latin typeface="Arial"/>
              </a:rPr>
              <a:t>Customizable defaults</a:t>
            </a:r>
          </a:p>
        </p:txBody>
      </p:sp>
      <p:sp>
        <p:nvSpPr>
          <p:cNvPr id="19" name="Rectangle 18"/>
          <p:cNvSpPr/>
          <p:nvPr/>
        </p:nvSpPr>
        <p:spPr>
          <a:xfrm>
            <a:off x="4389120" y="4297680"/>
            <a:ext cx="3108960" cy="164592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89120" y="4297680"/>
            <a:ext cx="310896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4480560"/>
            <a:ext cx="2560320" cy="457200"/>
          </a:xfrm>
          <a:prstGeom prst="rect">
            <a:avLst/>
          </a:prstGeom>
          <a:noFill/>
        </p:spPr>
        <p:txBody>
          <a:bodyPr wrap="square">
            <a:spAutoFit/>
          </a:bodyPr>
          <a:lstStyle/>
          <a:p>
            <a:pPr algn="l"/>
            <a:r>
              <a:rPr sz="1800" b="1" i="0">
                <a:solidFill>
                  <a:srgbClr val="F8FAFC"/>
                </a:solidFill>
                <a:latin typeface="Arial"/>
              </a:rPr>
              <a:t>IDP-agnostic</a:t>
            </a:r>
          </a:p>
        </p:txBody>
      </p:sp>
      <p:sp>
        <p:nvSpPr>
          <p:cNvPr id="22" name="TextBox 21"/>
          <p:cNvSpPr txBox="1"/>
          <p:nvPr/>
        </p:nvSpPr>
        <p:spPr>
          <a:xfrm>
            <a:off x="4663440" y="5029200"/>
            <a:ext cx="2560320" cy="731520"/>
          </a:xfrm>
          <a:prstGeom prst="rect">
            <a:avLst/>
          </a:prstGeom>
          <a:noFill/>
        </p:spPr>
        <p:txBody>
          <a:bodyPr wrap="square">
            <a:spAutoFit/>
          </a:bodyPr>
          <a:lstStyle/>
          <a:p>
            <a:r>
              <a:rPr sz="1400">
                <a:solidFill>
                  <a:srgbClr val="CBD5E1"/>
                </a:solidFill>
                <a:latin typeface="Arial"/>
              </a:rPr>
              <a:t>Any OIDC provider</a:t>
            </a:r>
          </a:p>
        </p:txBody>
      </p:sp>
      <p:sp>
        <p:nvSpPr>
          <p:cNvPr id="23" name="Rectangle 22"/>
          <p:cNvSpPr/>
          <p:nvPr/>
        </p:nvSpPr>
        <p:spPr>
          <a:xfrm>
            <a:off x="7863840" y="4297680"/>
            <a:ext cx="3108960" cy="164592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63840" y="4297680"/>
            <a:ext cx="310896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0" y="4480560"/>
            <a:ext cx="2560320" cy="457200"/>
          </a:xfrm>
          <a:prstGeom prst="rect">
            <a:avLst/>
          </a:prstGeom>
          <a:noFill/>
        </p:spPr>
        <p:txBody>
          <a:bodyPr wrap="square">
            <a:spAutoFit/>
          </a:bodyPr>
          <a:lstStyle/>
          <a:p>
            <a:pPr algn="l"/>
            <a:r>
              <a:rPr sz="1800" b="1" i="0">
                <a:solidFill>
                  <a:srgbClr val="F8FAFC"/>
                </a:solidFill>
                <a:latin typeface="Arial"/>
              </a:rPr>
              <a:t>No business logic</a:t>
            </a:r>
          </a:p>
        </p:txBody>
      </p:sp>
      <p:sp>
        <p:nvSpPr>
          <p:cNvPr id="26" name="TextBox 25"/>
          <p:cNvSpPr txBox="1"/>
          <p:nvPr/>
        </p:nvSpPr>
        <p:spPr>
          <a:xfrm>
            <a:off x="8138160" y="5029200"/>
            <a:ext cx="2560320" cy="731520"/>
          </a:xfrm>
          <a:prstGeom prst="rect">
            <a:avLst/>
          </a:prstGeom>
          <a:noFill/>
        </p:spPr>
        <p:txBody>
          <a:bodyPr wrap="square">
            <a:spAutoFit/>
          </a:bodyPr>
          <a:lstStyle/>
          <a:p>
            <a:r>
              <a:rPr sz="1400">
                <a:solidFill>
                  <a:srgbClr val="CBD5E1"/>
                </a:solidFill>
                <a:latin typeface="Arial"/>
              </a:rPr>
              <a:t>Purely technical</a:t>
            </a:r>
          </a:p>
        </p:txBody>
      </p:sp>
      <p:sp>
        <p:nvSpPr>
          <p:cNvPr id="27" name="TextBox 26"/>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28" name="TextBox 27"/>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A modular foundation</a:t>
            </a:r>
          </a:p>
        </p:txBody>
      </p:sp>
      <p:sp>
        <p:nvSpPr>
          <p:cNvPr id="3" name="Rectangle 2"/>
          <p:cNvSpPr/>
          <p:nvPr/>
        </p:nvSpPr>
        <p:spPr>
          <a:xfrm>
            <a:off x="1828800" y="1828800"/>
            <a:ext cx="8531352" cy="731520"/>
          </a:xfrm>
          <a:prstGeom prst="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011680"/>
            <a:ext cx="8531352" cy="548640"/>
          </a:xfrm>
          <a:prstGeom prst="rect">
            <a:avLst/>
          </a:prstGeom>
          <a:noFill/>
        </p:spPr>
        <p:txBody>
          <a:bodyPr wrap="square">
            <a:spAutoFit/>
          </a:bodyPr>
          <a:lstStyle/>
          <a:p>
            <a:pPr algn="ctr"/>
            <a:r>
              <a:rPr sz="1400" b="0" i="0">
                <a:solidFill>
                  <a:srgbClr val="F8FAFC"/>
                </a:solidFill>
                <a:latin typeface="Arial"/>
              </a:rPr>
              <a:t>Layer 1 : Service generator
foundation-archetype</a:t>
            </a:r>
          </a:p>
        </p:txBody>
      </p:sp>
      <p:sp>
        <p:nvSpPr>
          <p:cNvPr id="5" name="Rectangle 4"/>
          <p:cNvSpPr/>
          <p:nvPr/>
        </p:nvSpPr>
        <p:spPr>
          <a:xfrm>
            <a:off x="1828800" y="2834640"/>
            <a:ext cx="8531352" cy="731520"/>
          </a:xfrm>
          <a:prstGeom prst="rect">
            <a:avLst/>
          </a:prstGeom>
          <a:solidFill>
            <a:srgbClr val="111827"/>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3017520"/>
            <a:ext cx="8531352" cy="548640"/>
          </a:xfrm>
          <a:prstGeom prst="rect">
            <a:avLst/>
          </a:prstGeom>
          <a:noFill/>
        </p:spPr>
        <p:txBody>
          <a:bodyPr wrap="square">
            <a:spAutoFit/>
          </a:bodyPr>
          <a:lstStyle/>
          <a:p>
            <a:pPr algn="ctr"/>
            <a:r>
              <a:rPr sz="1400" b="0" i="0">
                <a:solidFill>
                  <a:srgbClr val="F8FAFC"/>
                </a:solidFill>
                <a:latin typeface="Arial"/>
              </a:rPr>
              <a:t>Layer 2 : Mandatory capabilities
core | api | security | logging | observability | mapping | test</a:t>
            </a:r>
          </a:p>
        </p:txBody>
      </p:sp>
      <p:sp>
        <p:nvSpPr>
          <p:cNvPr id="7" name="Rectangle 6"/>
          <p:cNvSpPr/>
          <p:nvPr/>
        </p:nvSpPr>
        <p:spPr>
          <a:xfrm>
            <a:off x="1828800" y="3840480"/>
            <a:ext cx="8531352" cy="731520"/>
          </a:xfrm>
          <a:prstGeom prst="rect">
            <a:avLst/>
          </a:prstGeom>
          <a:solidFill>
            <a:srgbClr val="11182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4023360"/>
            <a:ext cx="8531352" cy="548640"/>
          </a:xfrm>
          <a:prstGeom prst="rect">
            <a:avLst/>
          </a:prstGeom>
          <a:noFill/>
        </p:spPr>
        <p:txBody>
          <a:bodyPr wrap="square">
            <a:spAutoFit/>
          </a:bodyPr>
          <a:lstStyle/>
          <a:p>
            <a:pPr algn="ctr"/>
            <a:r>
              <a:rPr sz="1400" b="0" i="0">
                <a:solidFill>
                  <a:srgbClr val="F8FAFC"/>
                </a:solidFill>
                <a:latin typeface="Arial"/>
              </a:rPr>
              <a:t>Layer 3 : Optional capabilities
data | nats | http-client | soap-client</a:t>
            </a:r>
          </a:p>
        </p:txBody>
      </p:sp>
      <p:sp>
        <p:nvSpPr>
          <p:cNvPr id="9" name="Rectangle 8"/>
          <p:cNvSpPr/>
          <p:nvPr/>
        </p:nvSpPr>
        <p:spPr>
          <a:xfrm>
            <a:off x="1828800" y="4846320"/>
            <a:ext cx="8531352" cy="731520"/>
          </a:xfrm>
          <a:prstGeom prst="rect">
            <a:avLst/>
          </a:prstGeom>
          <a:solidFill>
            <a:srgbClr val="111827"/>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5029200"/>
            <a:ext cx="8531352" cy="548640"/>
          </a:xfrm>
          <a:prstGeom prst="rect">
            <a:avLst/>
          </a:prstGeom>
          <a:noFill/>
        </p:spPr>
        <p:txBody>
          <a:bodyPr wrap="square">
            <a:spAutoFit/>
          </a:bodyPr>
          <a:lstStyle/>
          <a:p>
            <a:pPr algn="ctr"/>
            <a:r>
              <a:rPr sz="1400" b="0" i="0">
                <a:solidFill>
                  <a:srgbClr val="F8FAFC"/>
                </a:solidFill>
                <a:latin typeface="Arial"/>
              </a:rPr>
              <a:t>Layer 4 : Build baseline
parent | bom | common</a:t>
            </a:r>
          </a:p>
        </p:txBody>
      </p:sp>
      <p:sp>
        <p:nvSpPr>
          <p:cNvPr id="11" name="TextBox 10"/>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12" name="TextBox 11"/>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A new service in minutes</a:t>
            </a:r>
          </a:p>
        </p:txBody>
      </p:sp>
      <p:sp>
        <p:nvSpPr>
          <p:cNvPr id="3" name="TextBox 2"/>
          <p:cNvSpPr txBox="1"/>
          <p:nvPr/>
        </p:nvSpPr>
        <p:spPr>
          <a:xfrm>
            <a:off x="731520" y="1097280"/>
            <a:ext cx="9144000" cy="457200"/>
          </a:xfrm>
          <a:prstGeom prst="rect">
            <a:avLst/>
          </a:prstGeom>
          <a:noFill/>
        </p:spPr>
        <p:txBody>
          <a:bodyPr wrap="square">
            <a:spAutoFit/>
          </a:bodyPr>
          <a:lstStyle/>
          <a:p>
            <a:pPr algn="l"/>
            <a:r>
              <a:rPr sz="1800" b="0" i="0">
                <a:solidFill>
                  <a:srgbClr val="22C55E"/>
                </a:solidFill>
                <a:latin typeface="Arial"/>
              </a:rPr>
              <a:t>Generate. Select capabilities. Start coding.</a:t>
            </a:r>
          </a:p>
        </p:txBody>
      </p:sp>
      <p:sp>
        <p:nvSpPr>
          <p:cNvPr id="4" name="Rectangle 3"/>
          <p:cNvSpPr/>
          <p:nvPr/>
        </p:nvSpPr>
        <p:spPr>
          <a:xfrm>
            <a:off x="731520" y="2011680"/>
            <a:ext cx="5486400" cy="32004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011680"/>
            <a:ext cx="5486400" cy="3657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57400"/>
            <a:ext cx="914400" cy="274320"/>
          </a:xfrm>
          <a:prstGeom prst="rect">
            <a:avLst/>
          </a:prstGeom>
          <a:noFill/>
        </p:spPr>
        <p:txBody>
          <a:bodyPr wrap="square">
            <a:spAutoFit/>
          </a:bodyPr>
          <a:lstStyle/>
          <a:p>
            <a:pPr algn="l"/>
            <a:r>
              <a:rPr sz="1200" b="0" i="0">
                <a:solidFill>
                  <a:srgbClr val="CBD5E1"/>
                </a:solidFill>
                <a:latin typeface="Arial"/>
              </a:rPr>
              <a:t>&gt;_</a:t>
            </a:r>
          </a:p>
        </p:txBody>
      </p:sp>
      <p:sp>
        <p:nvSpPr>
          <p:cNvPr id="7" name="TextBox 6"/>
          <p:cNvSpPr txBox="1"/>
          <p:nvPr/>
        </p:nvSpPr>
        <p:spPr>
          <a:xfrm>
            <a:off x="914400" y="2560320"/>
            <a:ext cx="5029200" cy="2286000"/>
          </a:xfrm>
          <a:prstGeom prst="rect">
            <a:avLst/>
          </a:prstGeom>
          <a:noFill/>
        </p:spPr>
        <p:txBody>
          <a:bodyPr wrap="square">
            <a:spAutoFit/>
          </a:bodyPr>
          <a:lstStyle/>
          <a:p>
            <a:r>
              <a:rPr sz="1300">
                <a:solidFill>
                  <a:srgbClr val="38BDF8"/>
                </a:solidFill>
                <a:latin typeface="Consolas"/>
              </a:rPr>
              <a:t>mvn archetype:generate \
  -DartifactId=my-service \
  -DserviceName=MyService \
  -Dcapabilities=data,nats</a:t>
            </a:r>
          </a:p>
        </p:txBody>
      </p:sp>
      <p:sp>
        <p:nvSpPr>
          <p:cNvPr id="8" name="Rectangle 7"/>
          <p:cNvSpPr/>
          <p:nvPr/>
        </p:nvSpPr>
        <p:spPr>
          <a:xfrm>
            <a:off x="6858000" y="2011680"/>
            <a:ext cx="4572000" cy="3200400"/>
          </a:xfrm>
          <a:prstGeom prst="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0" y="2286000"/>
            <a:ext cx="4023360" cy="2743200"/>
          </a:xfrm>
          <a:prstGeom prst="rect">
            <a:avLst/>
          </a:prstGeom>
          <a:noFill/>
        </p:spPr>
        <p:txBody>
          <a:bodyPr wrap="square">
            <a:spAutoFit/>
          </a:bodyPr>
          <a:lstStyle/>
          <a:p>
            <a:r>
              <a:rPr sz="1600">
                <a:solidFill>
                  <a:srgbClr val="CBD5E1"/>
                </a:solidFill>
                <a:latin typeface="Arial"/>
              </a:rPr>
              <a:t>✓ Hexagonal structure</a:t>
            </a:r>
          </a:p>
          <a:p>
            <a:pPr>
              <a:spcBef>
                <a:spcPts val="1200"/>
              </a:spcBef>
            </a:pPr>
            <a:r>
              <a:rPr sz="1600">
                <a:solidFill>
                  <a:srgbClr val="CBD5E1"/>
                </a:solidFill>
                <a:latin typeface="Arial"/>
              </a:rPr>
              <a:t>✓ Mandatory starters</a:t>
            </a:r>
          </a:p>
          <a:p>
            <a:pPr>
              <a:spcBef>
                <a:spcPts val="1200"/>
              </a:spcBef>
            </a:pPr>
            <a:r>
              <a:rPr sz="1600">
                <a:solidFill>
                  <a:srgbClr val="CBD5E1"/>
                </a:solidFill>
                <a:latin typeface="Arial"/>
              </a:rPr>
              <a:t>✓ Selected capabilities (data, nats)</a:t>
            </a:r>
          </a:p>
          <a:p>
            <a:pPr>
              <a:spcBef>
                <a:spcPts val="1200"/>
              </a:spcBef>
            </a:pPr>
            <a:r>
              <a:rPr sz="1600">
                <a:solidFill>
                  <a:srgbClr val="CBD5E1"/>
                </a:solidFill>
                <a:latin typeface="Arial"/>
              </a:rPr>
              <a:t>✓ Minimal configuration</a:t>
            </a:r>
          </a:p>
          <a:p>
            <a:pPr>
              <a:spcBef>
                <a:spcPts val="1200"/>
              </a:spcBef>
            </a:pPr>
            <a:r>
              <a:rPr sz="1600">
                <a:solidFill>
                  <a:srgbClr val="CBD5E1"/>
                </a:solidFill>
                <a:latin typeface="Arial"/>
              </a:rPr>
              <a:t>✓ Ready for business code</a:t>
            </a:r>
          </a:p>
        </p:txBody>
      </p:sp>
      <p:sp>
        <p:nvSpPr>
          <p:cNvPr id="10" name="TextBox 9"/>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11" name="TextBox 10"/>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Every service starts with the right baseline</a:t>
            </a:r>
          </a:p>
        </p:txBody>
      </p:sp>
      <p:sp>
        <p:nvSpPr>
          <p:cNvPr id="3" name="Rectangle 2"/>
          <p:cNvSpPr/>
          <p:nvPr/>
        </p:nvSpPr>
        <p:spPr>
          <a:xfrm>
            <a:off x="731520" y="2743200"/>
            <a:ext cx="1371600" cy="1828800"/>
          </a:xfrm>
          <a:prstGeom prst="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0"/>
            <a:ext cx="1371600" cy="457200"/>
          </a:xfrm>
          <a:prstGeom prst="rect">
            <a:avLst/>
          </a:prstGeom>
          <a:noFill/>
        </p:spPr>
        <p:txBody>
          <a:bodyPr wrap="square">
            <a:spAutoFit/>
          </a:bodyPr>
          <a:lstStyle/>
          <a:p>
            <a:pPr algn="ctr"/>
            <a:r>
              <a:rPr sz="1600" b="0" i="0">
                <a:solidFill>
                  <a:srgbClr val="F8FAFC"/>
                </a:solidFill>
                <a:latin typeface="Arial"/>
              </a:rPr>
              <a:t>Core</a:t>
            </a:r>
          </a:p>
        </p:txBody>
      </p:sp>
      <p:sp>
        <p:nvSpPr>
          <p:cNvPr id="5" name="Rectangle 4"/>
          <p:cNvSpPr/>
          <p:nvPr/>
        </p:nvSpPr>
        <p:spPr>
          <a:xfrm>
            <a:off x="2286000" y="2743200"/>
            <a:ext cx="1371600" cy="1828800"/>
          </a:xfrm>
          <a:prstGeom prst="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3657600"/>
            <a:ext cx="1371600" cy="457200"/>
          </a:xfrm>
          <a:prstGeom prst="rect">
            <a:avLst/>
          </a:prstGeom>
          <a:noFill/>
        </p:spPr>
        <p:txBody>
          <a:bodyPr wrap="square">
            <a:spAutoFit/>
          </a:bodyPr>
          <a:lstStyle/>
          <a:p>
            <a:pPr algn="ctr"/>
            <a:r>
              <a:rPr sz="1600" b="0" i="0">
                <a:solidFill>
                  <a:srgbClr val="F8FAFC"/>
                </a:solidFill>
                <a:latin typeface="Arial"/>
              </a:rPr>
              <a:t>API</a:t>
            </a:r>
          </a:p>
        </p:txBody>
      </p:sp>
      <p:sp>
        <p:nvSpPr>
          <p:cNvPr id="7" name="Rectangle 6"/>
          <p:cNvSpPr/>
          <p:nvPr/>
        </p:nvSpPr>
        <p:spPr>
          <a:xfrm>
            <a:off x="3840480" y="2743200"/>
            <a:ext cx="1371600" cy="1828800"/>
          </a:xfrm>
          <a:prstGeom prst="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0" y="3657600"/>
            <a:ext cx="1371600" cy="457200"/>
          </a:xfrm>
          <a:prstGeom prst="rect">
            <a:avLst/>
          </a:prstGeom>
          <a:noFill/>
        </p:spPr>
        <p:txBody>
          <a:bodyPr wrap="square">
            <a:spAutoFit/>
          </a:bodyPr>
          <a:lstStyle/>
          <a:p>
            <a:pPr algn="ctr"/>
            <a:r>
              <a:rPr sz="1600" b="0" i="0">
                <a:solidFill>
                  <a:srgbClr val="F8FAFC"/>
                </a:solidFill>
                <a:latin typeface="Arial"/>
              </a:rPr>
              <a:t>Security</a:t>
            </a:r>
          </a:p>
        </p:txBody>
      </p:sp>
      <p:sp>
        <p:nvSpPr>
          <p:cNvPr id="9" name="Rectangle 8"/>
          <p:cNvSpPr/>
          <p:nvPr/>
        </p:nvSpPr>
        <p:spPr>
          <a:xfrm>
            <a:off x="5394960" y="2743200"/>
            <a:ext cx="1371600" cy="1828800"/>
          </a:xfrm>
          <a:prstGeom prst="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4960" y="3657600"/>
            <a:ext cx="1371600" cy="457200"/>
          </a:xfrm>
          <a:prstGeom prst="rect">
            <a:avLst/>
          </a:prstGeom>
          <a:noFill/>
        </p:spPr>
        <p:txBody>
          <a:bodyPr wrap="square">
            <a:spAutoFit/>
          </a:bodyPr>
          <a:lstStyle/>
          <a:p>
            <a:pPr algn="ctr"/>
            <a:r>
              <a:rPr sz="1600" b="0" i="0">
                <a:solidFill>
                  <a:srgbClr val="F8FAFC"/>
                </a:solidFill>
                <a:latin typeface="Arial"/>
              </a:rPr>
              <a:t>Logging</a:t>
            </a:r>
          </a:p>
        </p:txBody>
      </p:sp>
      <p:sp>
        <p:nvSpPr>
          <p:cNvPr id="11" name="Rectangle 10"/>
          <p:cNvSpPr/>
          <p:nvPr/>
        </p:nvSpPr>
        <p:spPr>
          <a:xfrm>
            <a:off x="6949440" y="2743200"/>
            <a:ext cx="1371600" cy="1828800"/>
          </a:xfrm>
          <a:prstGeom prst="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0" y="3657600"/>
            <a:ext cx="1371600" cy="457200"/>
          </a:xfrm>
          <a:prstGeom prst="rect">
            <a:avLst/>
          </a:prstGeom>
          <a:noFill/>
        </p:spPr>
        <p:txBody>
          <a:bodyPr wrap="square">
            <a:spAutoFit/>
          </a:bodyPr>
          <a:lstStyle/>
          <a:p>
            <a:pPr algn="ctr"/>
            <a:r>
              <a:rPr sz="1600" b="0" i="0">
                <a:solidFill>
                  <a:srgbClr val="F8FAFC"/>
                </a:solidFill>
                <a:latin typeface="Arial"/>
              </a:rPr>
              <a:t>Observability</a:t>
            </a:r>
          </a:p>
        </p:txBody>
      </p:sp>
      <p:sp>
        <p:nvSpPr>
          <p:cNvPr id="13" name="Rectangle 12"/>
          <p:cNvSpPr/>
          <p:nvPr/>
        </p:nvSpPr>
        <p:spPr>
          <a:xfrm>
            <a:off x="8503920" y="2743200"/>
            <a:ext cx="1371600" cy="1828800"/>
          </a:xfrm>
          <a:prstGeom prst="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3657600"/>
            <a:ext cx="1371600" cy="457200"/>
          </a:xfrm>
          <a:prstGeom prst="rect">
            <a:avLst/>
          </a:prstGeom>
          <a:noFill/>
        </p:spPr>
        <p:txBody>
          <a:bodyPr wrap="square">
            <a:spAutoFit/>
          </a:bodyPr>
          <a:lstStyle/>
          <a:p>
            <a:pPr algn="ctr"/>
            <a:r>
              <a:rPr sz="1600" b="0" i="0">
                <a:solidFill>
                  <a:srgbClr val="F8FAFC"/>
                </a:solidFill>
                <a:latin typeface="Arial"/>
              </a:rPr>
              <a:t>Mapping</a:t>
            </a:r>
          </a:p>
        </p:txBody>
      </p:sp>
      <p:sp>
        <p:nvSpPr>
          <p:cNvPr id="15" name="Rectangle 14"/>
          <p:cNvSpPr/>
          <p:nvPr/>
        </p:nvSpPr>
        <p:spPr>
          <a:xfrm>
            <a:off x="10058400" y="2743200"/>
            <a:ext cx="1371600" cy="1828800"/>
          </a:xfrm>
          <a:prstGeom prst="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0" y="3657600"/>
            <a:ext cx="1371600" cy="457200"/>
          </a:xfrm>
          <a:prstGeom prst="rect">
            <a:avLst/>
          </a:prstGeom>
          <a:noFill/>
        </p:spPr>
        <p:txBody>
          <a:bodyPr wrap="square">
            <a:spAutoFit/>
          </a:bodyPr>
          <a:lstStyle/>
          <a:p>
            <a:pPr algn="ctr"/>
            <a:r>
              <a:rPr sz="1600" b="0" i="0">
                <a:solidFill>
                  <a:srgbClr val="F8FAFC"/>
                </a:solidFill>
                <a:latin typeface="Arial"/>
              </a:rPr>
              <a:t>Testing</a:t>
            </a:r>
          </a:p>
        </p:txBody>
      </p:sp>
      <p:sp>
        <p:nvSpPr>
          <p:cNvPr id="17" name="TextBox 16"/>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18" name="TextBox 17"/>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Add only what the service needs</a:t>
            </a:r>
          </a:p>
        </p:txBody>
      </p:sp>
      <p:sp>
        <p:nvSpPr>
          <p:cNvPr id="3" name="Rectangle 2"/>
          <p:cNvSpPr/>
          <p:nvPr/>
        </p:nvSpPr>
        <p:spPr>
          <a:xfrm>
            <a:off x="914400" y="1828800"/>
            <a:ext cx="4572000" cy="18288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828800"/>
            <a:ext cx="457200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011680"/>
            <a:ext cx="4023360" cy="457200"/>
          </a:xfrm>
          <a:prstGeom prst="rect">
            <a:avLst/>
          </a:prstGeom>
          <a:noFill/>
        </p:spPr>
        <p:txBody>
          <a:bodyPr wrap="square">
            <a:spAutoFit/>
          </a:bodyPr>
          <a:lstStyle/>
          <a:p>
            <a:pPr algn="l"/>
            <a:r>
              <a:rPr sz="1800" b="1" i="0">
                <a:solidFill>
                  <a:srgbClr val="F8FAFC"/>
                </a:solidFill>
                <a:latin typeface="Arial"/>
              </a:rPr>
              <a:t>data</a:t>
            </a:r>
          </a:p>
        </p:txBody>
      </p:sp>
      <p:sp>
        <p:nvSpPr>
          <p:cNvPr id="6" name="TextBox 5"/>
          <p:cNvSpPr txBox="1"/>
          <p:nvPr/>
        </p:nvSpPr>
        <p:spPr>
          <a:xfrm>
            <a:off x="1188720" y="2560320"/>
            <a:ext cx="4023360" cy="914400"/>
          </a:xfrm>
          <a:prstGeom prst="rect">
            <a:avLst/>
          </a:prstGeom>
          <a:noFill/>
        </p:spPr>
        <p:txBody>
          <a:bodyPr wrap="square">
            <a:spAutoFit/>
          </a:bodyPr>
          <a:lstStyle/>
          <a:p>
            <a:r>
              <a:rPr sz="1400">
                <a:solidFill>
                  <a:srgbClr val="CBD5E1"/>
                </a:solidFill>
                <a:latin typeface="Arial"/>
              </a:rPr>
              <a:t>JPA + Flyway + PostgreSQL</a:t>
            </a:r>
          </a:p>
        </p:txBody>
      </p:sp>
      <p:sp>
        <p:nvSpPr>
          <p:cNvPr id="7" name="Rectangle 6"/>
          <p:cNvSpPr/>
          <p:nvPr/>
        </p:nvSpPr>
        <p:spPr>
          <a:xfrm>
            <a:off x="6400800" y="1828800"/>
            <a:ext cx="4572000" cy="18288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0" y="1828800"/>
            <a:ext cx="4572000" cy="54864"/>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2011680"/>
            <a:ext cx="4023360" cy="457200"/>
          </a:xfrm>
          <a:prstGeom prst="rect">
            <a:avLst/>
          </a:prstGeom>
          <a:noFill/>
        </p:spPr>
        <p:txBody>
          <a:bodyPr wrap="square">
            <a:spAutoFit/>
          </a:bodyPr>
          <a:lstStyle/>
          <a:p>
            <a:pPr algn="l"/>
            <a:r>
              <a:rPr sz="1800" b="1" i="0">
                <a:solidFill>
                  <a:srgbClr val="F8FAFC"/>
                </a:solidFill>
                <a:latin typeface="Arial"/>
              </a:rPr>
              <a:t>nats</a:t>
            </a:r>
          </a:p>
        </p:txBody>
      </p:sp>
      <p:sp>
        <p:nvSpPr>
          <p:cNvPr id="10" name="TextBox 9"/>
          <p:cNvSpPr txBox="1"/>
          <p:nvPr/>
        </p:nvSpPr>
        <p:spPr>
          <a:xfrm>
            <a:off x="6675120" y="2560320"/>
            <a:ext cx="4023360" cy="914400"/>
          </a:xfrm>
          <a:prstGeom prst="rect">
            <a:avLst/>
          </a:prstGeom>
          <a:noFill/>
        </p:spPr>
        <p:txBody>
          <a:bodyPr wrap="square">
            <a:spAutoFit/>
          </a:bodyPr>
          <a:lstStyle/>
          <a:p>
            <a:r>
              <a:rPr sz="1400">
                <a:solidFill>
                  <a:srgbClr val="CBD5E1"/>
                </a:solidFill>
                <a:latin typeface="Arial"/>
              </a:rPr>
              <a:t>Messaging conventions</a:t>
            </a:r>
          </a:p>
        </p:txBody>
      </p:sp>
      <p:sp>
        <p:nvSpPr>
          <p:cNvPr id="11" name="Rectangle 10"/>
          <p:cNvSpPr/>
          <p:nvPr/>
        </p:nvSpPr>
        <p:spPr>
          <a:xfrm>
            <a:off x="914400" y="4114800"/>
            <a:ext cx="4572000" cy="18288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400" y="4114800"/>
            <a:ext cx="457200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4297680"/>
            <a:ext cx="4023360" cy="457200"/>
          </a:xfrm>
          <a:prstGeom prst="rect">
            <a:avLst/>
          </a:prstGeom>
          <a:noFill/>
        </p:spPr>
        <p:txBody>
          <a:bodyPr wrap="square">
            <a:spAutoFit/>
          </a:bodyPr>
          <a:lstStyle/>
          <a:p>
            <a:pPr algn="l"/>
            <a:r>
              <a:rPr sz="1800" b="1" i="0">
                <a:solidFill>
                  <a:srgbClr val="F8FAFC"/>
                </a:solidFill>
                <a:latin typeface="Arial"/>
              </a:rPr>
              <a:t>http-client</a:t>
            </a:r>
          </a:p>
        </p:txBody>
      </p:sp>
      <p:sp>
        <p:nvSpPr>
          <p:cNvPr id="14" name="TextBox 13"/>
          <p:cNvSpPr txBox="1"/>
          <p:nvPr/>
        </p:nvSpPr>
        <p:spPr>
          <a:xfrm>
            <a:off x="1188720" y="4846320"/>
            <a:ext cx="4023360" cy="914400"/>
          </a:xfrm>
          <a:prstGeom prst="rect">
            <a:avLst/>
          </a:prstGeom>
          <a:noFill/>
        </p:spPr>
        <p:txBody>
          <a:bodyPr wrap="square">
            <a:spAutoFit/>
          </a:bodyPr>
          <a:lstStyle/>
          <a:p>
            <a:r>
              <a:rPr sz="1400">
                <a:solidFill>
                  <a:srgbClr val="CBD5E1"/>
                </a:solidFill>
                <a:latin typeface="Arial"/>
              </a:rPr>
              <a:t>WebClient + OpenAPI clients</a:t>
            </a:r>
          </a:p>
        </p:txBody>
      </p:sp>
      <p:sp>
        <p:nvSpPr>
          <p:cNvPr id="15" name="Rectangle 14"/>
          <p:cNvSpPr/>
          <p:nvPr/>
        </p:nvSpPr>
        <p:spPr>
          <a:xfrm>
            <a:off x="6400800" y="4114800"/>
            <a:ext cx="4572000" cy="18288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0" y="4114800"/>
            <a:ext cx="45720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0" y="4297680"/>
            <a:ext cx="4023360" cy="457200"/>
          </a:xfrm>
          <a:prstGeom prst="rect">
            <a:avLst/>
          </a:prstGeom>
          <a:noFill/>
        </p:spPr>
        <p:txBody>
          <a:bodyPr wrap="square">
            <a:spAutoFit/>
          </a:bodyPr>
          <a:lstStyle/>
          <a:p>
            <a:pPr algn="l"/>
            <a:r>
              <a:rPr sz="1800" b="1" i="0">
                <a:solidFill>
                  <a:srgbClr val="F8FAFC"/>
                </a:solidFill>
                <a:latin typeface="Arial"/>
              </a:rPr>
              <a:t>soap-client</a:t>
            </a:r>
          </a:p>
        </p:txBody>
      </p:sp>
      <p:sp>
        <p:nvSpPr>
          <p:cNvPr id="18" name="TextBox 17"/>
          <p:cNvSpPr txBox="1"/>
          <p:nvPr/>
        </p:nvSpPr>
        <p:spPr>
          <a:xfrm>
            <a:off x="6675120" y="4846320"/>
            <a:ext cx="4023360" cy="914400"/>
          </a:xfrm>
          <a:prstGeom prst="rect">
            <a:avLst/>
          </a:prstGeom>
          <a:noFill/>
        </p:spPr>
        <p:txBody>
          <a:bodyPr wrap="square">
            <a:spAutoFit/>
          </a:bodyPr>
          <a:lstStyle/>
          <a:p>
            <a:r>
              <a:rPr sz="1400">
                <a:solidFill>
                  <a:srgbClr val="CBD5E1"/>
                </a:solidFill>
                <a:latin typeface="Arial"/>
              </a:rPr>
              <a:t>Apache CXF + WSDL clients</a:t>
            </a:r>
          </a:p>
        </p:txBody>
      </p:sp>
      <p:sp>
        <p:nvSpPr>
          <p:cNvPr id="19" name="TextBox 18"/>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20" name="TextBox 19"/>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Built for the migration journey</a:t>
            </a:r>
          </a:p>
        </p:txBody>
      </p:sp>
      <p:sp>
        <p:nvSpPr>
          <p:cNvPr id="3" name="Rectangle 2"/>
          <p:cNvSpPr/>
          <p:nvPr/>
        </p:nvSpPr>
        <p:spPr>
          <a:xfrm>
            <a:off x="2743200" y="1828800"/>
            <a:ext cx="6702552" cy="73152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0" y="2011680"/>
            <a:ext cx="6702552" cy="548640"/>
          </a:xfrm>
          <a:prstGeom prst="rect">
            <a:avLst/>
          </a:prstGeom>
          <a:noFill/>
        </p:spPr>
        <p:txBody>
          <a:bodyPr wrap="square">
            <a:spAutoFit/>
          </a:bodyPr>
          <a:lstStyle/>
          <a:p>
            <a:pPr algn="ctr"/>
            <a:r>
              <a:rPr sz="1600" b="0" i="0">
                <a:solidFill>
                  <a:srgbClr val="94A3B8"/>
                </a:solidFill>
                <a:latin typeface="Arial"/>
              </a:rPr>
              <a:t>webMethods / legacy integration</a:t>
            </a:r>
          </a:p>
        </p:txBody>
      </p:sp>
      <p:sp>
        <p:nvSpPr>
          <p:cNvPr id="5" name="TextBox 4"/>
          <p:cNvSpPr txBox="1"/>
          <p:nvPr/>
        </p:nvSpPr>
        <p:spPr>
          <a:xfrm>
            <a:off x="5943600" y="2651760"/>
            <a:ext cx="457200" cy="457200"/>
          </a:xfrm>
          <a:prstGeom prst="rect">
            <a:avLst/>
          </a:prstGeom>
          <a:noFill/>
        </p:spPr>
        <p:txBody>
          <a:bodyPr wrap="square">
            <a:spAutoFit/>
          </a:bodyPr>
          <a:lstStyle/>
          <a:p>
            <a:pPr algn="ctr"/>
            <a:r>
              <a:rPr sz="2400" b="0" i="0">
                <a:solidFill>
                  <a:srgbClr val="38BDF8"/>
                </a:solidFill>
                <a:latin typeface="Arial"/>
              </a:rPr>
              <a:t>↓</a:t>
            </a:r>
          </a:p>
        </p:txBody>
      </p:sp>
      <p:sp>
        <p:nvSpPr>
          <p:cNvPr id="6" name="Rectangle 5"/>
          <p:cNvSpPr/>
          <p:nvPr/>
        </p:nvSpPr>
        <p:spPr>
          <a:xfrm>
            <a:off x="2743200" y="3200400"/>
            <a:ext cx="6702552" cy="914400"/>
          </a:xfrm>
          <a:prstGeom prst="rect">
            <a:avLst/>
          </a:prstGeom>
          <a:solidFill>
            <a:srgbClr val="0B1020"/>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3474720"/>
            <a:ext cx="6702552" cy="548640"/>
          </a:xfrm>
          <a:prstGeom prst="rect">
            <a:avLst/>
          </a:prstGeom>
          <a:noFill/>
        </p:spPr>
        <p:txBody>
          <a:bodyPr wrap="square">
            <a:spAutoFit/>
          </a:bodyPr>
          <a:lstStyle/>
          <a:p>
            <a:pPr algn="ctr"/>
            <a:r>
              <a:rPr sz="2000" b="1" i="0">
                <a:solidFill>
                  <a:srgbClr val="38BDF8"/>
                </a:solidFill>
                <a:latin typeface="Arial"/>
              </a:rPr>
              <a:t>foundation-platform</a:t>
            </a:r>
          </a:p>
        </p:txBody>
      </p:sp>
      <p:sp>
        <p:nvSpPr>
          <p:cNvPr id="8" name="TextBox 7"/>
          <p:cNvSpPr txBox="1"/>
          <p:nvPr/>
        </p:nvSpPr>
        <p:spPr>
          <a:xfrm>
            <a:off x="5943600" y="4206240"/>
            <a:ext cx="457200" cy="457200"/>
          </a:xfrm>
          <a:prstGeom prst="rect">
            <a:avLst/>
          </a:prstGeom>
          <a:noFill/>
        </p:spPr>
        <p:txBody>
          <a:bodyPr wrap="square">
            <a:spAutoFit/>
          </a:bodyPr>
          <a:lstStyle/>
          <a:p>
            <a:pPr algn="ctr"/>
            <a:r>
              <a:rPr sz="2400" b="0" i="0">
                <a:solidFill>
                  <a:srgbClr val="22C55E"/>
                </a:solidFill>
                <a:latin typeface="Arial"/>
              </a:rPr>
              <a:t>↓</a:t>
            </a:r>
          </a:p>
        </p:txBody>
      </p:sp>
      <p:sp>
        <p:nvSpPr>
          <p:cNvPr id="9" name="Rectangle 8"/>
          <p:cNvSpPr/>
          <p:nvPr/>
        </p:nvSpPr>
        <p:spPr>
          <a:xfrm>
            <a:off x="2743200" y="4754880"/>
            <a:ext cx="6702552" cy="73152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4937760"/>
            <a:ext cx="6702552" cy="548640"/>
          </a:xfrm>
          <a:prstGeom prst="rect">
            <a:avLst/>
          </a:prstGeom>
          <a:noFill/>
        </p:spPr>
        <p:txBody>
          <a:bodyPr wrap="square">
            <a:spAutoFit/>
          </a:bodyPr>
          <a:lstStyle/>
          <a:p>
            <a:pPr algn="ctr"/>
            <a:r>
              <a:rPr sz="1600" b="0" i="0">
                <a:solidFill>
                  <a:srgbClr val="F8FAFC"/>
                </a:solidFill>
                <a:latin typeface="Arial"/>
              </a:rPr>
              <a:t>Spring Boot services</a:t>
            </a:r>
          </a:p>
        </p:txBody>
      </p:sp>
      <p:sp>
        <p:nvSpPr>
          <p:cNvPr id="11" name="Rectangle 10"/>
          <p:cNvSpPr/>
          <p:nvPr/>
        </p:nvSpPr>
        <p:spPr>
          <a:xfrm>
            <a:off x="914400" y="5943600"/>
            <a:ext cx="10360152" cy="457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6035040"/>
            <a:ext cx="10360152" cy="365760"/>
          </a:xfrm>
          <a:prstGeom prst="rect">
            <a:avLst/>
          </a:prstGeom>
          <a:noFill/>
        </p:spPr>
        <p:txBody>
          <a:bodyPr wrap="square">
            <a:spAutoFit/>
          </a:bodyPr>
          <a:lstStyle/>
          <a:p>
            <a:pPr algn="ctr"/>
            <a:r>
              <a:rPr sz="1400" b="0" i="0">
                <a:solidFill>
                  <a:srgbClr val="38BDF8"/>
                </a:solidFill>
                <a:latin typeface="Arial"/>
              </a:rPr>
              <a:t>REST APIs  |  SOAP clients  |  NATS  |  Flyway  |  Gravitee-ready</a:t>
            </a:r>
          </a:p>
        </p:txBody>
      </p:sp>
      <p:sp>
        <p:nvSpPr>
          <p:cNvPr id="13" name="TextBox 12"/>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14" name="TextBox 13"/>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Governance built into developer experience</a:t>
            </a:r>
          </a:p>
        </p:txBody>
      </p:sp>
      <p:sp>
        <p:nvSpPr>
          <p:cNvPr id="3" name="Rectangle 2"/>
          <p:cNvSpPr/>
          <p:nvPr/>
        </p:nvSpPr>
        <p:spPr>
          <a:xfrm>
            <a:off x="2743200" y="1828800"/>
            <a:ext cx="6702552" cy="4114800"/>
          </a:xfrm>
          <a:prstGeom prst="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0" y="2286000"/>
            <a:ext cx="4873752" cy="3200400"/>
          </a:xfrm>
          <a:prstGeom prst="rect">
            <a:avLst/>
          </a:prstGeom>
          <a:noFill/>
        </p:spPr>
        <p:txBody>
          <a:bodyPr wrap="square">
            <a:spAutoFit/>
          </a:bodyPr>
          <a:lstStyle/>
          <a:p>
            <a:r>
              <a:rPr sz="1800">
                <a:solidFill>
                  <a:srgbClr val="CBD5E1"/>
                </a:solidFill>
                <a:latin typeface="Arial"/>
              </a:rPr>
              <a:t>☑ JWT / OAuth2 validation</a:t>
            </a:r>
          </a:p>
          <a:p>
            <a:pPr>
              <a:spcBef>
                <a:spcPts val="800"/>
              </a:spcBef>
            </a:pPr>
            <a:r>
              <a:rPr sz="1800">
                <a:solidFill>
                  <a:srgbClr val="CBD5E1"/>
                </a:solidFill>
                <a:latin typeface="Arial"/>
              </a:rPr>
              <a:t>☑ Correlation ID propagation</a:t>
            </a:r>
          </a:p>
          <a:p>
            <a:pPr>
              <a:spcBef>
                <a:spcPts val="800"/>
              </a:spcBef>
            </a:pPr>
            <a:r>
              <a:rPr sz="1800">
                <a:solidFill>
                  <a:srgbClr val="CBD5E1"/>
                </a:solidFill>
                <a:latin typeface="Arial"/>
              </a:rPr>
              <a:t>☑ Standard API errors</a:t>
            </a:r>
          </a:p>
          <a:p>
            <a:pPr>
              <a:spcBef>
                <a:spcPts val="800"/>
              </a:spcBef>
            </a:pPr>
            <a:r>
              <a:rPr sz="1800">
                <a:solidFill>
                  <a:srgbClr val="CBD5E1"/>
                </a:solidFill>
                <a:latin typeface="Arial"/>
              </a:rPr>
              <a:t>☑ Flyway schema versions</a:t>
            </a:r>
          </a:p>
          <a:p>
            <a:pPr>
              <a:spcBef>
                <a:spcPts val="800"/>
              </a:spcBef>
            </a:pPr>
            <a:r>
              <a:rPr sz="1800">
                <a:solidFill>
                  <a:srgbClr val="CBD5E1"/>
                </a:solidFill>
                <a:latin typeface="Arial"/>
              </a:rPr>
              <a:t>☑ Actuator health &amp; metrics</a:t>
            </a:r>
          </a:p>
          <a:p>
            <a:pPr>
              <a:spcBef>
                <a:spcPts val="800"/>
              </a:spcBef>
            </a:pPr>
            <a:r>
              <a:rPr sz="1800">
                <a:solidFill>
                  <a:srgbClr val="CBD5E1"/>
                </a:solidFill>
                <a:latin typeface="Arial"/>
              </a:rPr>
              <a:t>☑ OpenTelemetry tracing</a:t>
            </a:r>
          </a:p>
          <a:p>
            <a:pPr>
              <a:spcBef>
                <a:spcPts val="800"/>
              </a:spcBef>
            </a:pPr>
            <a:r>
              <a:rPr sz="1800">
                <a:solidFill>
                  <a:srgbClr val="CBD5E1"/>
                </a:solidFill>
                <a:latin typeface="Arial"/>
              </a:rPr>
              <a:t>☑ MapStruct conventions</a:t>
            </a:r>
          </a:p>
          <a:p>
            <a:pPr>
              <a:spcBef>
                <a:spcPts val="800"/>
              </a:spcBef>
            </a:pPr>
            <a:r>
              <a:rPr sz="1800">
                <a:solidFill>
                  <a:srgbClr val="CBD5E1"/>
                </a:solidFill>
                <a:latin typeface="Arial"/>
              </a:rPr>
              <a:t>☑ Standardized tests structure</a:t>
            </a:r>
          </a:p>
        </p:txBody>
      </p:sp>
      <p:sp>
        <p:nvSpPr>
          <p:cNvPr id="5" name="TextBox 4"/>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6" name="TextBox 5"/>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The productivity gain is repeatability</a:t>
            </a:r>
          </a:p>
        </p:txBody>
      </p:sp>
      <p:sp>
        <p:nvSpPr>
          <p:cNvPr id="3" name="Rectangle 2"/>
          <p:cNvSpPr/>
          <p:nvPr/>
        </p:nvSpPr>
        <p:spPr>
          <a:xfrm>
            <a:off x="914400" y="1828800"/>
            <a:ext cx="3200400" cy="32004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1828800"/>
            <a:ext cx="3200400" cy="54864"/>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011680"/>
            <a:ext cx="2651760" cy="457200"/>
          </a:xfrm>
          <a:prstGeom prst="rect">
            <a:avLst/>
          </a:prstGeom>
          <a:noFill/>
        </p:spPr>
        <p:txBody>
          <a:bodyPr wrap="square">
            <a:spAutoFit/>
          </a:bodyPr>
          <a:lstStyle/>
          <a:p>
            <a:pPr algn="l"/>
            <a:r>
              <a:rPr sz="1800" b="1" i="0">
                <a:solidFill>
                  <a:srgbClr val="F8FAFC"/>
                </a:solidFill>
                <a:latin typeface="Arial"/>
              </a:rPr>
              <a:t>Before</a:t>
            </a:r>
          </a:p>
        </p:txBody>
      </p:sp>
      <p:sp>
        <p:nvSpPr>
          <p:cNvPr id="6" name="TextBox 5"/>
          <p:cNvSpPr txBox="1"/>
          <p:nvPr/>
        </p:nvSpPr>
        <p:spPr>
          <a:xfrm>
            <a:off x="1188720" y="2560320"/>
            <a:ext cx="2651760" cy="2286000"/>
          </a:xfrm>
          <a:prstGeom prst="rect">
            <a:avLst/>
          </a:prstGeom>
          <a:noFill/>
        </p:spPr>
        <p:txBody>
          <a:bodyPr wrap="square">
            <a:spAutoFit/>
          </a:bodyPr>
          <a:lstStyle/>
          <a:p>
            <a:r>
              <a:rPr sz="1400">
                <a:solidFill>
                  <a:srgbClr val="CBD5E1"/>
                </a:solidFill>
                <a:latin typeface="Arial"/>
              </a:rPr>
              <a:t>Manual setup</a:t>
            </a:r>
          </a:p>
          <a:p>
            <a:pPr>
              <a:spcBef>
                <a:spcPts val="800"/>
              </a:spcBef>
            </a:pPr>
            <a:r>
              <a:rPr sz="1400">
                <a:solidFill>
                  <a:srgbClr val="CBD5E1"/>
                </a:solidFill>
                <a:latin typeface="Arial"/>
              </a:rPr>
              <a:t>Duplicated code</a:t>
            </a:r>
          </a:p>
          <a:p>
            <a:pPr>
              <a:spcBef>
                <a:spcPts val="800"/>
              </a:spcBef>
            </a:pPr>
            <a:r>
              <a:rPr sz="1400">
                <a:solidFill>
                  <a:srgbClr val="CBD5E1"/>
                </a:solidFill>
                <a:latin typeface="Arial"/>
              </a:rPr>
              <a:t>Uneven quality</a:t>
            </a:r>
          </a:p>
        </p:txBody>
      </p:sp>
      <p:sp>
        <p:nvSpPr>
          <p:cNvPr id="7" name="TextBox 6"/>
          <p:cNvSpPr txBox="1"/>
          <p:nvPr/>
        </p:nvSpPr>
        <p:spPr>
          <a:xfrm>
            <a:off x="4297680" y="2743200"/>
            <a:ext cx="457200" cy="457200"/>
          </a:xfrm>
          <a:prstGeom prst="rect">
            <a:avLst/>
          </a:prstGeom>
          <a:noFill/>
        </p:spPr>
        <p:txBody>
          <a:bodyPr wrap="square">
            <a:spAutoFit/>
          </a:bodyPr>
          <a:lstStyle/>
          <a:p>
            <a:pPr algn="l"/>
            <a:r>
              <a:rPr sz="2400" b="0" i="0">
                <a:solidFill>
                  <a:srgbClr val="94A3B8"/>
                </a:solidFill>
                <a:latin typeface="Arial"/>
              </a:rPr>
              <a:t>→</a:t>
            </a:r>
          </a:p>
        </p:txBody>
      </p:sp>
      <p:sp>
        <p:nvSpPr>
          <p:cNvPr id="8" name="Rectangle 7"/>
          <p:cNvSpPr/>
          <p:nvPr/>
        </p:nvSpPr>
        <p:spPr>
          <a:xfrm>
            <a:off x="4480560" y="1828800"/>
            <a:ext cx="3200400" cy="32004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80560" y="1828800"/>
            <a:ext cx="320040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2011680"/>
            <a:ext cx="2651760" cy="457200"/>
          </a:xfrm>
          <a:prstGeom prst="rect">
            <a:avLst/>
          </a:prstGeom>
          <a:noFill/>
        </p:spPr>
        <p:txBody>
          <a:bodyPr wrap="square">
            <a:spAutoFit/>
          </a:bodyPr>
          <a:lstStyle/>
          <a:p>
            <a:pPr algn="l"/>
            <a:r>
              <a:rPr sz="1800" b="1" i="0">
                <a:solidFill>
                  <a:srgbClr val="F8FAFC"/>
                </a:solidFill>
                <a:latin typeface="Arial"/>
              </a:rPr>
              <a:t>With foundation</a:t>
            </a:r>
          </a:p>
        </p:txBody>
      </p:sp>
      <p:sp>
        <p:nvSpPr>
          <p:cNvPr id="11" name="TextBox 10"/>
          <p:cNvSpPr txBox="1"/>
          <p:nvPr/>
        </p:nvSpPr>
        <p:spPr>
          <a:xfrm>
            <a:off x="4754880" y="2560320"/>
            <a:ext cx="2651760" cy="2286000"/>
          </a:xfrm>
          <a:prstGeom prst="rect">
            <a:avLst/>
          </a:prstGeom>
          <a:noFill/>
        </p:spPr>
        <p:txBody>
          <a:bodyPr wrap="square">
            <a:spAutoFit/>
          </a:bodyPr>
          <a:lstStyle/>
          <a:p>
            <a:r>
              <a:rPr sz="1400">
                <a:solidFill>
                  <a:srgbClr val="CBD5E1"/>
                </a:solidFill>
                <a:latin typeface="Arial"/>
              </a:rPr>
              <a:t>Generated baseline</a:t>
            </a:r>
          </a:p>
          <a:p>
            <a:pPr>
              <a:spcBef>
                <a:spcPts val="800"/>
              </a:spcBef>
            </a:pPr>
            <a:r>
              <a:rPr sz="1400">
                <a:solidFill>
                  <a:srgbClr val="CBD5E1"/>
                </a:solidFill>
                <a:latin typeface="Arial"/>
              </a:rPr>
              <a:t>Shared standards</a:t>
            </a:r>
          </a:p>
          <a:p>
            <a:pPr>
              <a:spcBef>
                <a:spcPts val="800"/>
              </a:spcBef>
            </a:pPr>
            <a:r>
              <a:rPr sz="1400">
                <a:solidFill>
                  <a:srgbClr val="CBD5E1"/>
                </a:solidFill>
                <a:latin typeface="Arial"/>
              </a:rPr>
              <a:t>Selected capabilities</a:t>
            </a:r>
          </a:p>
        </p:txBody>
      </p:sp>
      <p:sp>
        <p:nvSpPr>
          <p:cNvPr id="12" name="TextBox 11"/>
          <p:cNvSpPr txBox="1"/>
          <p:nvPr/>
        </p:nvSpPr>
        <p:spPr>
          <a:xfrm>
            <a:off x="7772400" y="2743200"/>
            <a:ext cx="457200" cy="457200"/>
          </a:xfrm>
          <a:prstGeom prst="rect">
            <a:avLst/>
          </a:prstGeom>
          <a:noFill/>
        </p:spPr>
        <p:txBody>
          <a:bodyPr wrap="square">
            <a:spAutoFit/>
          </a:bodyPr>
          <a:lstStyle/>
          <a:p>
            <a:pPr algn="l"/>
            <a:r>
              <a:rPr sz="2400" b="0" i="0">
                <a:solidFill>
                  <a:srgbClr val="38BDF8"/>
                </a:solidFill>
                <a:latin typeface="Arial"/>
              </a:rPr>
              <a:t>→</a:t>
            </a:r>
          </a:p>
        </p:txBody>
      </p:sp>
      <p:sp>
        <p:nvSpPr>
          <p:cNvPr id="13" name="Rectangle 12"/>
          <p:cNvSpPr/>
          <p:nvPr/>
        </p:nvSpPr>
        <p:spPr>
          <a:xfrm>
            <a:off x="8046720" y="1828800"/>
            <a:ext cx="3200400" cy="32004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828800"/>
            <a:ext cx="320040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011680"/>
            <a:ext cx="2651760" cy="457200"/>
          </a:xfrm>
          <a:prstGeom prst="rect">
            <a:avLst/>
          </a:prstGeom>
          <a:noFill/>
        </p:spPr>
        <p:txBody>
          <a:bodyPr wrap="square">
            <a:spAutoFit/>
          </a:bodyPr>
          <a:lstStyle/>
          <a:p>
            <a:pPr algn="l"/>
            <a:r>
              <a:rPr sz="1800" b="1" i="0">
                <a:solidFill>
                  <a:srgbClr val="F8FAFC"/>
                </a:solidFill>
                <a:latin typeface="Arial"/>
              </a:rPr>
              <a:t>Impact</a:t>
            </a:r>
          </a:p>
        </p:txBody>
      </p:sp>
      <p:sp>
        <p:nvSpPr>
          <p:cNvPr id="16" name="TextBox 15"/>
          <p:cNvSpPr txBox="1"/>
          <p:nvPr/>
        </p:nvSpPr>
        <p:spPr>
          <a:xfrm>
            <a:off x="8321040" y="2560320"/>
            <a:ext cx="2651760" cy="2286000"/>
          </a:xfrm>
          <a:prstGeom prst="rect">
            <a:avLst/>
          </a:prstGeom>
          <a:noFill/>
        </p:spPr>
        <p:txBody>
          <a:bodyPr wrap="square">
            <a:spAutoFit/>
          </a:bodyPr>
          <a:lstStyle/>
          <a:p>
            <a:r>
              <a:rPr sz="1400">
                <a:solidFill>
                  <a:srgbClr val="CBD5E1"/>
                </a:solidFill>
                <a:latin typeface="Arial"/>
              </a:rPr>
              <a:t>Faster start</a:t>
            </a:r>
          </a:p>
          <a:p>
            <a:pPr>
              <a:spcBef>
                <a:spcPts val="800"/>
              </a:spcBef>
            </a:pPr>
            <a:r>
              <a:rPr sz="1400">
                <a:solidFill>
                  <a:srgbClr val="CBD5E1"/>
                </a:solidFill>
                <a:latin typeface="Arial"/>
              </a:rPr>
              <a:t>Less rework</a:t>
            </a:r>
          </a:p>
          <a:p>
            <a:pPr>
              <a:spcBef>
                <a:spcPts val="800"/>
              </a:spcBef>
            </a:pPr>
            <a:r>
              <a:rPr sz="1400">
                <a:solidFill>
                  <a:srgbClr val="CBD5E1"/>
                </a:solidFill>
                <a:latin typeface="Arial"/>
              </a:rPr>
              <a:t>Lower risk</a:t>
            </a:r>
          </a:p>
        </p:txBody>
      </p:sp>
      <p:sp>
        <p:nvSpPr>
          <p:cNvPr id="17" name="TextBox 16"/>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18" name="TextBox 17"/>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Clear boundaries make adoption easier</a:t>
            </a:r>
          </a:p>
        </p:txBody>
      </p:sp>
      <p:sp>
        <p:nvSpPr>
          <p:cNvPr id="3" name="Rectangle 2"/>
          <p:cNvSpPr/>
          <p:nvPr/>
        </p:nvSpPr>
        <p:spPr>
          <a:xfrm>
            <a:off x="1371600" y="2286000"/>
            <a:ext cx="4114800" cy="32004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2286000"/>
            <a:ext cx="411480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2468880"/>
            <a:ext cx="3566160" cy="457200"/>
          </a:xfrm>
          <a:prstGeom prst="rect">
            <a:avLst/>
          </a:prstGeom>
          <a:noFill/>
        </p:spPr>
        <p:txBody>
          <a:bodyPr wrap="square">
            <a:spAutoFit/>
          </a:bodyPr>
          <a:lstStyle/>
          <a:p>
            <a:pPr algn="l"/>
            <a:r>
              <a:rPr sz="1800" b="1" i="0">
                <a:solidFill>
                  <a:srgbClr val="F8FAFC"/>
                </a:solidFill>
                <a:latin typeface="Arial"/>
              </a:rPr>
              <a:t>It is</a:t>
            </a:r>
          </a:p>
        </p:txBody>
      </p:sp>
      <p:sp>
        <p:nvSpPr>
          <p:cNvPr id="6" name="TextBox 5"/>
          <p:cNvSpPr txBox="1"/>
          <p:nvPr/>
        </p:nvSpPr>
        <p:spPr>
          <a:xfrm>
            <a:off x="1645920" y="3017520"/>
            <a:ext cx="3566160" cy="2286000"/>
          </a:xfrm>
          <a:prstGeom prst="rect">
            <a:avLst/>
          </a:prstGeom>
          <a:noFill/>
        </p:spPr>
        <p:txBody>
          <a:bodyPr wrap="square">
            <a:spAutoFit/>
          </a:bodyPr>
          <a:lstStyle/>
          <a:p>
            <a:r>
              <a:rPr sz="1400">
                <a:solidFill>
                  <a:srgbClr val="CBD5E1"/>
                </a:solidFill>
                <a:latin typeface="Arial"/>
              </a:rPr>
              <a:t>Feature composition</a:t>
            </a:r>
          </a:p>
          <a:p>
            <a:pPr>
              <a:spcBef>
                <a:spcPts val="800"/>
              </a:spcBef>
            </a:pPr>
            <a:r>
              <a:rPr sz="1400">
                <a:solidFill>
                  <a:srgbClr val="CBD5E1"/>
                </a:solidFill>
                <a:latin typeface="Arial"/>
              </a:rPr>
              <a:t>Spring Boot foundation</a:t>
            </a:r>
          </a:p>
          <a:p>
            <a:pPr>
              <a:spcBef>
                <a:spcPts val="800"/>
              </a:spcBef>
            </a:pPr>
            <a:r>
              <a:rPr sz="1400">
                <a:solidFill>
                  <a:srgbClr val="CBD5E1"/>
                </a:solidFill>
                <a:latin typeface="Arial"/>
              </a:rPr>
              <a:t>Maven archetype</a:t>
            </a:r>
          </a:p>
          <a:p>
            <a:pPr>
              <a:spcBef>
                <a:spcPts val="800"/>
              </a:spcBef>
            </a:pPr>
            <a:r>
              <a:rPr sz="1400">
                <a:solidFill>
                  <a:srgbClr val="CBD5E1"/>
                </a:solidFill>
                <a:latin typeface="Arial"/>
              </a:rPr>
              <a:t>Reusable starters</a:t>
            </a:r>
          </a:p>
          <a:p>
            <a:pPr>
              <a:spcBef>
                <a:spcPts val="800"/>
              </a:spcBef>
            </a:pPr>
            <a:r>
              <a:rPr sz="1400">
                <a:solidFill>
                  <a:srgbClr val="CBD5E1"/>
                </a:solidFill>
                <a:latin typeface="Arial"/>
              </a:rPr>
              <a:t>Standardization layer</a:t>
            </a:r>
          </a:p>
          <a:p>
            <a:pPr>
              <a:spcBef>
                <a:spcPts val="800"/>
              </a:spcBef>
            </a:pPr>
            <a:r>
              <a:rPr sz="1400">
                <a:solidFill>
                  <a:srgbClr val="CBD5E1"/>
                </a:solidFill>
                <a:latin typeface="Arial"/>
              </a:rPr>
              <a:t>Delivery accelerator</a:t>
            </a:r>
          </a:p>
        </p:txBody>
      </p:sp>
      <p:sp>
        <p:nvSpPr>
          <p:cNvPr id="7" name="Rectangle 6"/>
          <p:cNvSpPr/>
          <p:nvPr/>
        </p:nvSpPr>
        <p:spPr>
          <a:xfrm>
            <a:off x="6702552" y="2286000"/>
            <a:ext cx="4114800" cy="32004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702552" y="2286000"/>
            <a:ext cx="4114800"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76872" y="2468880"/>
            <a:ext cx="3566160" cy="457200"/>
          </a:xfrm>
          <a:prstGeom prst="rect">
            <a:avLst/>
          </a:prstGeom>
          <a:noFill/>
        </p:spPr>
        <p:txBody>
          <a:bodyPr wrap="square">
            <a:spAutoFit/>
          </a:bodyPr>
          <a:lstStyle/>
          <a:p>
            <a:pPr algn="l"/>
            <a:r>
              <a:rPr sz="1800" b="1" i="0">
                <a:solidFill>
                  <a:srgbClr val="F8FAFC"/>
                </a:solidFill>
                <a:latin typeface="Arial"/>
              </a:rPr>
              <a:t>It is NOT</a:t>
            </a:r>
          </a:p>
        </p:txBody>
      </p:sp>
      <p:sp>
        <p:nvSpPr>
          <p:cNvPr id="10" name="TextBox 9"/>
          <p:cNvSpPr txBox="1"/>
          <p:nvPr/>
        </p:nvSpPr>
        <p:spPr>
          <a:xfrm>
            <a:off x="6976872" y="3017520"/>
            <a:ext cx="3566160" cy="2286000"/>
          </a:xfrm>
          <a:prstGeom prst="rect">
            <a:avLst/>
          </a:prstGeom>
          <a:noFill/>
        </p:spPr>
        <p:txBody>
          <a:bodyPr wrap="square">
            <a:spAutoFit/>
          </a:bodyPr>
          <a:lstStyle/>
          <a:p>
            <a:r>
              <a:rPr sz="1400">
                <a:solidFill>
                  <a:srgbClr val="CBD5E1"/>
                </a:solidFill>
                <a:latin typeface="Arial"/>
              </a:rPr>
              <a:t>Heavy framework</a:t>
            </a:r>
          </a:p>
          <a:p>
            <a:pPr>
              <a:spcBef>
                <a:spcPts val="800"/>
              </a:spcBef>
            </a:pPr>
            <a:r>
              <a:rPr sz="1400">
                <a:solidFill>
                  <a:srgbClr val="CBD5E1"/>
                </a:solidFill>
                <a:latin typeface="Arial"/>
              </a:rPr>
              <a:t>Business framework</a:t>
            </a:r>
          </a:p>
          <a:p>
            <a:pPr>
              <a:spcBef>
                <a:spcPts val="800"/>
              </a:spcBef>
            </a:pPr>
            <a:r>
              <a:rPr sz="1400">
                <a:solidFill>
                  <a:srgbClr val="CBD5E1"/>
                </a:solidFill>
                <a:latin typeface="Arial"/>
              </a:rPr>
              <a:t>Deployment platform</a:t>
            </a:r>
          </a:p>
          <a:p>
            <a:pPr>
              <a:spcBef>
                <a:spcPts val="800"/>
              </a:spcBef>
            </a:pPr>
            <a:r>
              <a:rPr sz="1400">
                <a:solidFill>
                  <a:srgbClr val="CBD5E1"/>
                </a:solidFill>
                <a:latin typeface="Arial"/>
              </a:rPr>
              <a:t>Specific IDP</a:t>
            </a:r>
          </a:p>
          <a:p>
            <a:pPr>
              <a:spcBef>
                <a:spcPts val="800"/>
              </a:spcBef>
            </a:pPr>
            <a:r>
              <a:rPr sz="1400">
                <a:solidFill>
                  <a:srgbClr val="CBD5E1"/>
                </a:solidFill>
                <a:latin typeface="Arial"/>
              </a:rPr>
              <a:t>Replacement for Spring Boot</a:t>
            </a:r>
          </a:p>
        </p:txBody>
      </p:sp>
      <p:sp>
        <p:nvSpPr>
          <p:cNvPr id="11" name="TextBox 10"/>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12" name="TextBox 11"/>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Adoption can be progressive</a:t>
            </a:r>
          </a:p>
        </p:txBody>
      </p:sp>
      <p:sp>
        <p:nvSpPr>
          <p:cNvPr id="3" name="Rectangle 2"/>
          <p:cNvSpPr/>
          <p:nvPr/>
        </p:nvSpPr>
        <p:spPr>
          <a:xfrm>
            <a:off x="457200" y="3200400"/>
            <a:ext cx="2011680" cy="914400"/>
          </a:xfrm>
          <a:prstGeom prst="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383280"/>
            <a:ext cx="1828800" cy="548640"/>
          </a:xfrm>
          <a:prstGeom prst="rect">
            <a:avLst/>
          </a:prstGeom>
          <a:noFill/>
        </p:spPr>
        <p:txBody>
          <a:bodyPr wrap="square">
            <a:spAutoFit/>
          </a:bodyPr>
          <a:lstStyle/>
          <a:p>
            <a:pPr algn="ctr"/>
            <a:r>
              <a:rPr sz="1200" b="0" i="0">
                <a:solidFill>
                  <a:srgbClr val="F8FAFC"/>
                </a:solidFill>
                <a:latin typeface="Arial"/>
              </a:rPr>
              <a:t>1. Generate service</a:t>
            </a:r>
          </a:p>
        </p:txBody>
      </p:sp>
      <p:sp>
        <p:nvSpPr>
          <p:cNvPr id="5" name="TextBox 4"/>
          <p:cNvSpPr txBox="1"/>
          <p:nvPr/>
        </p:nvSpPr>
        <p:spPr>
          <a:xfrm>
            <a:off x="2468880" y="3474720"/>
            <a:ext cx="274320" cy="365760"/>
          </a:xfrm>
          <a:prstGeom prst="rect">
            <a:avLst/>
          </a:prstGeom>
          <a:noFill/>
        </p:spPr>
        <p:txBody>
          <a:bodyPr wrap="square">
            <a:spAutoFit/>
          </a:bodyPr>
          <a:lstStyle/>
          <a:p>
            <a:pPr algn="l"/>
            <a:r>
              <a:rPr sz="1800" b="0" i="0">
                <a:solidFill>
                  <a:srgbClr val="38BDF8"/>
                </a:solidFill>
                <a:latin typeface="Arial"/>
              </a:rPr>
              <a:t>→</a:t>
            </a:r>
          </a:p>
        </p:txBody>
      </p:sp>
      <p:sp>
        <p:nvSpPr>
          <p:cNvPr id="6" name="Rectangle 5"/>
          <p:cNvSpPr/>
          <p:nvPr/>
        </p:nvSpPr>
        <p:spPr>
          <a:xfrm>
            <a:off x="2743200" y="3200400"/>
            <a:ext cx="2011680" cy="914400"/>
          </a:xfrm>
          <a:prstGeom prst="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3383280"/>
            <a:ext cx="1828800" cy="548640"/>
          </a:xfrm>
          <a:prstGeom prst="rect">
            <a:avLst/>
          </a:prstGeom>
          <a:noFill/>
        </p:spPr>
        <p:txBody>
          <a:bodyPr wrap="square">
            <a:spAutoFit/>
          </a:bodyPr>
          <a:lstStyle/>
          <a:p>
            <a:pPr algn="ctr"/>
            <a:r>
              <a:rPr sz="1200" b="0" i="0">
                <a:solidFill>
                  <a:srgbClr val="F8FAFC"/>
                </a:solidFill>
                <a:latin typeface="Arial"/>
              </a:rPr>
              <a:t>2. Select capabilities</a:t>
            </a:r>
          </a:p>
        </p:txBody>
      </p:sp>
      <p:sp>
        <p:nvSpPr>
          <p:cNvPr id="8" name="TextBox 7"/>
          <p:cNvSpPr txBox="1"/>
          <p:nvPr/>
        </p:nvSpPr>
        <p:spPr>
          <a:xfrm>
            <a:off x="4754880" y="3474720"/>
            <a:ext cx="274320" cy="365760"/>
          </a:xfrm>
          <a:prstGeom prst="rect">
            <a:avLst/>
          </a:prstGeom>
          <a:noFill/>
        </p:spPr>
        <p:txBody>
          <a:bodyPr wrap="square">
            <a:spAutoFit/>
          </a:bodyPr>
          <a:lstStyle/>
          <a:p>
            <a:pPr algn="l"/>
            <a:r>
              <a:rPr sz="1800" b="0" i="0">
                <a:solidFill>
                  <a:srgbClr val="38BDF8"/>
                </a:solidFill>
                <a:latin typeface="Arial"/>
              </a:rPr>
              <a:t>→</a:t>
            </a:r>
          </a:p>
        </p:txBody>
      </p:sp>
      <p:sp>
        <p:nvSpPr>
          <p:cNvPr id="9" name="Rectangle 8"/>
          <p:cNvSpPr/>
          <p:nvPr/>
        </p:nvSpPr>
        <p:spPr>
          <a:xfrm>
            <a:off x="5029200" y="3200400"/>
            <a:ext cx="2011680" cy="914400"/>
          </a:xfrm>
          <a:prstGeom prst="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0" y="3383280"/>
            <a:ext cx="1828800" cy="548640"/>
          </a:xfrm>
          <a:prstGeom prst="rect">
            <a:avLst/>
          </a:prstGeom>
          <a:noFill/>
        </p:spPr>
        <p:txBody>
          <a:bodyPr wrap="square">
            <a:spAutoFit/>
          </a:bodyPr>
          <a:lstStyle/>
          <a:p>
            <a:pPr algn="ctr"/>
            <a:r>
              <a:rPr sz="1200" b="0" i="0">
                <a:solidFill>
                  <a:srgbClr val="F8FAFC"/>
                </a:solidFill>
                <a:latin typeface="Arial"/>
              </a:rPr>
              <a:t>3. Implement business logic</a:t>
            </a:r>
          </a:p>
        </p:txBody>
      </p:sp>
      <p:sp>
        <p:nvSpPr>
          <p:cNvPr id="11" name="TextBox 10"/>
          <p:cNvSpPr txBox="1"/>
          <p:nvPr/>
        </p:nvSpPr>
        <p:spPr>
          <a:xfrm>
            <a:off x="7040880" y="3474720"/>
            <a:ext cx="274320" cy="365760"/>
          </a:xfrm>
          <a:prstGeom prst="rect">
            <a:avLst/>
          </a:prstGeom>
          <a:noFill/>
        </p:spPr>
        <p:txBody>
          <a:bodyPr wrap="square">
            <a:spAutoFit/>
          </a:bodyPr>
          <a:lstStyle/>
          <a:p>
            <a:pPr algn="l"/>
            <a:r>
              <a:rPr sz="1800" b="0" i="0">
                <a:solidFill>
                  <a:srgbClr val="38BDF8"/>
                </a:solidFill>
                <a:latin typeface="Arial"/>
              </a:rPr>
              <a:t>→</a:t>
            </a:r>
          </a:p>
        </p:txBody>
      </p:sp>
      <p:sp>
        <p:nvSpPr>
          <p:cNvPr id="12" name="Rectangle 11"/>
          <p:cNvSpPr/>
          <p:nvPr/>
        </p:nvSpPr>
        <p:spPr>
          <a:xfrm>
            <a:off x="7315200" y="3200400"/>
            <a:ext cx="2011680" cy="914400"/>
          </a:xfrm>
          <a:prstGeom prst="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3383280"/>
            <a:ext cx="1828800" cy="548640"/>
          </a:xfrm>
          <a:prstGeom prst="rect">
            <a:avLst/>
          </a:prstGeom>
          <a:noFill/>
        </p:spPr>
        <p:txBody>
          <a:bodyPr wrap="square">
            <a:spAutoFit/>
          </a:bodyPr>
          <a:lstStyle/>
          <a:p>
            <a:pPr algn="ctr"/>
            <a:r>
              <a:rPr sz="1200" b="0" i="0">
                <a:solidFill>
                  <a:srgbClr val="F8FAFC"/>
                </a:solidFill>
                <a:latin typeface="Arial"/>
              </a:rPr>
              <a:t>4. Run standardized tests</a:t>
            </a:r>
          </a:p>
        </p:txBody>
      </p:sp>
      <p:sp>
        <p:nvSpPr>
          <p:cNvPr id="14" name="TextBox 13"/>
          <p:cNvSpPr txBox="1"/>
          <p:nvPr/>
        </p:nvSpPr>
        <p:spPr>
          <a:xfrm>
            <a:off x="9326880" y="3474720"/>
            <a:ext cx="274320" cy="365760"/>
          </a:xfrm>
          <a:prstGeom prst="rect">
            <a:avLst/>
          </a:prstGeom>
          <a:noFill/>
        </p:spPr>
        <p:txBody>
          <a:bodyPr wrap="square">
            <a:spAutoFit/>
          </a:bodyPr>
          <a:lstStyle/>
          <a:p>
            <a:pPr algn="l"/>
            <a:r>
              <a:rPr sz="1800" b="0" i="0">
                <a:solidFill>
                  <a:srgbClr val="38BDF8"/>
                </a:solidFill>
                <a:latin typeface="Arial"/>
              </a:rPr>
              <a:t>→</a:t>
            </a:r>
          </a:p>
        </p:txBody>
      </p:sp>
      <p:sp>
        <p:nvSpPr>
          <p:cNvPr id="15" name="Rectangle 14"/>
          <p:cNvSpPr/>
          <p:nvPr/>
        </p:nvSpPr>
        <p:spPr>
          <a:xfrm>
            <a:off x="9601200" y="3200400"/>
            <a:ext cx="2011680" cy="914400"/>
          </a:xfrm>
          <a:prstGeom prst="rect">
            <a:avLst/>
          </a:prstGeom>
          <a:solidFill>
            <a:srgbClr val="11182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0" y="3383280"/>
            <a:ext cx="1828800" cy="548640"/>
          </a:xfrm>
          <a:prstGeom prst="rect">
            <a:avLst/>
          </a:prstGeom>
          <a:noFill/>
        </p:spPr>
        <p:txBody>
          <a:bodyPr wrap="square">
            <a:spAutoFit/>
          </a:bodyPr>
          <a:lstStyle/>
          <a:p>
            <a:pPr algn="ctr"/>
            <a:r>
              <a:rPr sz="1200" b="0" i="0">
                <a:solidFill>
                  <a:srgbClr val="F8FAFC"/>
                </a:solidFill>
                <a:latin typeface="Arial"/>
              </a:rPr>
              <a:t>5. Deliver through existing CI/CD</a:t>
            </a:r>
          </a:p>
        </p:txBody>
      </p:sp>
      <p:sp>
        <p:nvSpPr>
          <p:cNvPr id="17" name="TextBox 16"/>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18" name="TextBox 17"/>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914400" y="2743200"/>
            <a:ext cx="91440" cy="1828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560320"/>
            <a:ext cx="9144000" cy="1371600"/>
          </a:xfrm>
          <a:prstGeom prst="rect">
            <a:avLst/>
          </a:prstGeom>
          <a:noFill/>
        </p:spPr>
        <p:txBody>
          <a:bodyPr wrap="square">
            <a:spAutoFit/>
          </a:bodyPr>
          <a:lstStyle/>
          <a:p>
            <a:pPr algn="l"/>
            <a:r>
              <a:rPr sz="3200" b="1" i="0">
                <a:solidFill>
                  <a:srgbClr val="F8FAFC"/>
                </a:solidFill>
                <a:latin typeface="Arial"/>
              </a:rPr>
              <a:t>foundation-platform is the accelerator
for the next wave of services</a:t>
            </a:r>
          </a:p>
        </p:txBody>
      </p:sp>
      <p:sp>
        <p:nvSpPr>
          <p:cNvPr id="4" name="TextBox 3"/>
          <p:cNvSpPr txBox="1"/>
          <p:nvPr/>
        </p:nvSpPr>
        <p:spPr>
          <a:xfrm>
            <a:off x="1371600" y="4114800"/>
            <a:ext cx="4572000" cy="1828800"/>
          </a:xfrm>
          <a:prstGeom prst="rect">
            <a:avLst/>
          </a:prstGeom>
          <a:noFill/>
        </p:spPr>
        <p:txBody>
          <a:bodyPr wrap="square">
            <a:spAutoFit/>
          </a:bodyPr>
          <a:lstStyle/>
          <a:p>
            <a:r>
              <a:rPr sz="2400">
                <a:solidFill>
                  <a:srgbClr val="22C55E"/>
                </a:solidFill>
                <a:latin typeface="Arial"/>
              </a:rPr>
              <a:t>Build faster.</a:t>
            </a:r>
          </a:p>
          <a:p>
            <a:pPr>
              <a:spcBef>
                <a:spcPts val="1200"/>
              </a:spcBef>
            </a:pPr>
            <a:r>
              <a:rPr sz="2400">
                <a:solidFill>
                  <a:srgbClr val="22C55E"/>
                </a:solidFill>
                <a:latin typeface="Arial"/>
              </a:rPr>
              <a:t>Stay consistent.</a:t>
            </a:r>
          </a:p>
          <a:p>
            <a:pPr>
              <a:spcBef>
                <a:spcPts val="1200"/>
              </a:spcBef>
            </a:pPr>
            <a:r>
              <a:rPr sz="2400">
                <a:solidFill>
                  <a:srgbClr val="22C55E"/>
                </a:solidFill>
                <a:latin typeface="Arial"/>
              </a:rPr>
              <a:t>Keep Spring Boot native.</a:t>
            </a:r>
          </a:p>
        </p:txBody>
      </p:sp>
      <p:sp>
        <p:nvSpPr>
          <p:cNvPr id="5" name="TextBox 4"/>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6" name="TextBox 5"/>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Backup: Module map</a:t>
            </a:r>
          </a:p>
        </p:txBody>
      </p:sp>
      <p:sp>
        <p:nvSpPr>
          <p:cNvPr id="3" name="TextBox 2"/>
          <p:cNvSpPr txBox="1"/>
          <p:nvPr/>
        </p:nvSpPr>
        <p:spPr>
          <a:xfrm>
            <a:off x="914400" y="1828800"/>
            <a:ext cx="7315200" cy="457200"/>
          </a:xfrm>
          <a:prstGeom prst="rect">
            <a:avLst/>
          </a:prstGeom>
          <a:noFill/>
        </p:spPr>
        <p:txBody>
          <a:bodyPr wrap="square">
            <a:spAutoFit/>
          </a:bodyPr>
          <a:lstStyle/>
          <a:p>
            <a:pPr algn="l"/>
            <a:r>
              <a:rPr sz="1400" b="0" i="0">
                <a:solidFill>
                  <a:srgbClr val="CBD5E1"/>
                </a:solidFill>
                <a:latin typeface="Arial"/>
              </a:rPr>
              <a:t>Build Foundation: parent, bom, common</a:t>
            </a:r>
          </a:p>
        </p:txBody>
      </p:sp>
      <p:sp>
        <p:nvSpPr>
          <p:cNvPr id="4" name="TextBox 3"/>
          <p:cNvSpPr txBox="1"/>
          <p:nvPr/>
        </p:nvSpPr>
        <p:spPr>
          <a:xfrm>
            <a:off x="914400" y="2743200"/>
            <a:ext cx="9144000" cy="457200"/>
          </a:xfrm>
          <a:prstGeom prst="rect">
            <a:avLst/>
          </a:prstGeom>
          <a:noFill/>
        </p:spPr>
        <p:txBody>
          <a:bodyPr wrap="square">
            <a:spAutoFit/>
          </a:bodyPr>
          <a:lstStyle/>
          <a:p>
            <a:pPr algn="l"/>
            <a:r>
              <a:rPr sz="1400" b="0" i="0">
                <a:solidFill>
                  <a:srgbClr val="CBD5E1"/>
                </a:solidFill>
                <a:latin typeface="Arial"/>
              </a:rPr>
              <a:t>Mandatory: core, api, security, logging, observability, mapping, test</a:t>
            </a:r>
          </a:p>
        </p:txBody>
      </p:sp>
      <p:sp>
        <p:nvSpPr>
          <p:cNvPr id="5" name="TextBox 4"/>
          <p:cNvSpPr txBox="1"/>
          <p:nvPr/>
        </p:nvSpPr>
        <p:spPr>
          <a:xfrm>
            <a:off x="914400" y="3657600"/>
            <a:ext cx="7315200" cy="457200"/>
          </a:xfrm>
          <a:prstGeom prst="rect">
            <a:avLst/>
          </a:prstGeom>
          <a:noFill/>
        </p:spPr>
        <p:txBody>
          <a:bodyPr wrap="square">
            <a:spAutoFit/>
          </a:bodyPr>
          <a:lstStyle/>
          <a:p>
            <a:pPr algn="l"/>
            <a:r>
              <a:rPr sz="1400" b="0" i="0">
                <a:solidFill>
                  <a:srgbClr val="CBD5E1"/>
                </a:solidFill>
                <a:latin typeface="Arial"/>
              </a:rPr>
              <a:t>Optional: data, nats, http-client, soap-client</a:t>
            </a:r>
          </a:p>
        </p:txBody>
      </p:sp>
      <p:sp>
        <p:nvSpPr>
          <p:cNvPr id="6" name="TextBox 5"/>
          <p:cNvSpPr txBox="1"/>
          <p:nvPr/>
        </p:nvSpPr>
        <p:spPr>
          <a:xfrm>
            <a:off x="914400" y="4572000"/>
            <a:ext cx="7315200" cy="457200"/>
          </a:xfrm>
          <a:prstGeom prst="rect">
            <a:avLst/>
          </a:prstGeom>
          <a:noFill/>
        </p:spPr>
        <p:txBody>
          <a:bodyPr wrap="square">
            <a:spAutoFit/>
          </a:bodyPr>
          <a:lstStyle/>
          <a:p>
            <a:pPr algn="l"/>
            <a:r>
              <a:rPr sz="1400" b="0" i="0">
                <a:solidFill>
                  <a:srgbClr val="CBD5E1"/>
                </a:solidFill>
                <a:latin typeface="Arial"/>
              </a:rPr>
              <a:t>Generator: archetype</a:t>
            </a:r>
          </a:p>
        </p:txBody>
      </p:sp>
      <p:sp>
        <p:nvSpPr>
          <p:cNvPr id="7" name="TextBox 6"/>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8" name="TextBox 7"/>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B1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Backup: Service generation model</a:t>
            </a:r>
          </a:p>
        </p:txBody>
      </p:sp>
      <p:sp>
        <p:nvSpPr>
          <p:cNvPr id="3" name="Rectangle 2"/>
          <p:cNvSpPr/>
          <p:nvPr/>
        </p:nvSpPr>
        <p:spPr>
          <a:xfrm>
            <a:off x="914400" y="1828800"/>
            <a:ext cx="5029200" cy="228600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4572000" cy="1920240"/>
          </a:xfrm>
          <a:prstGeom prst="rect">
            <a:avLst/>
          </a:prstGeom>
          <a:noFill/>
        </p:spPr>
        <p:txBody>
          <a:bodyPr wrap="square">
            <a:spAutoFit/>
          </a:bodyPr>
          <a:lstStyle/>
          <a:p>
            <a:r>
              <a:rPr sz="1100">
                <a:solidFill>
                  <a:srgbClr val="38BDF8"/>
                </a:solidFill>
                <a:latin typeface="Consolas"/>
              </a:rPr>
              <a:t>mvn archetype:generate \
  -DarchetypeGroupId=fr.francetv.foundation \
  -DarchetypeArtifactId=foundation-archetype \
  -DartifactId=my-service \
  -DserviceName=MyService \
  -Dcapabilities=data,nats</a:t>
            </a:r>
          </a:p>
        </p:txBody>
      </p:sp>
      <p:sp>
        <p:nvSpPr>
          <p:cNvPr id="5" name="Rectangle 4"/>
          <p:cNvSpPr/>
          <p:nvPr/>
        </p:nvSpPr>
        <p:spPr>
          <a:xfrm>
            <a:off x="6400800" y="1828800"/>
            <a:ext cx="4572000" cy="2286000"/>
          </a:xfrm>
          <a:prstGeom prst="rect">
            <a:avLst/>
          </a:prstGeom>
          <a:solidFill>
            <a:srgbClr val="111827"/>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0" y="2011680"/>
            <a:ext cx="4206240" cy="1920240"/>
          </a:xfrm>
          <a:prstGeom prst="rect">
            <a:avLst/>
          </a:prstGeom>
          <a:noFill/>
        </p:spPr>
        <p:txBody>
          <a:bodyPr wrap="square">
            <a:spAutoFit/>
          </a:bodyPr>
          <a:lstStyle/>
          <a:p>
            <a:r>
              <a:rPr sz="1200">
                <a:solidFill>
                  <a:srgbClr val="CBD5E1"/>
                </a:solidFill>
                <a:latin typeface="Arial"/>
              </a:rPr>
              <a:t>Generated: mandatory + optional capabilities</a:t>
            </a:r>
          </a:p>
          <a:p>
            <a:r>
              <a:rPr sz="1200">
                <a:solidFill>
                  <a:srgbClr val="CBD5E1"/>
                </a:solidFill>
                <a:latin typeface="Arial"/>
              </a:rPr>
              <a:t>Hexagonal structure</a:t>
            </a:r>
          </a:p>
          <a:p>
            <a:r>
              <a:rPr sz="1200">
                <a:solidFill>
                  <a:srgbClr val="CBD5E1"/>
                </a:solidFill>
                <a:latin typeface="Arial"/>
              </a:rPr>
              <a:t>Minimal application.yml</a:t>
            </a:r>
          </a:p>
          <a:p>
            <a:r>
              <a:rPr sz="1200">
                <a:solidFill>
                  <a:srgbClr val="CBD5E1"/>
                </a:solidFill>
                <a:latin typeface="Arial"/>
              </a:rPr>
              <a:t>Optional Dockerfile / GitLab CI templates</a:t>
            </a:r>
          </a:p>
        </p:txBody>
      </p:sp>
      <p:sp>
        <p:nvSpPr>
          <p:cNvPr id="7" name="TextBox 6"/>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8" name="TextBox 7"/>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B2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Backup: Generated hexagonal architecture</a:t>
            </a:r>
          </a:p>
        </p:txBody>
      </p:sp>
      <p:sp>
        <p:nvSpPr>
          <p:cNvPr id="3" name="Rectangle 2"/>
          <p:cNvSpPr/>
          <p:nvPr/>
        </p:nvSpPr>
        <p:spPr>
          <a:xfrm>
            <a:off x="4572000" y="2286000"/>
            <a:ext cx="3017520" cy="2286000"/>
          </a:xfrm>
          <a:prstGeom prst="rect">
            <a:avLst/>
          </a:prstGeom>
          <a:solidFill>
            <a:srgbClr val="111827"/>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0" y="3017520"/>
            <a:ext cx="3017520" cy="914400"/>
          </a:xfrm>
          <a:prstGeom prst="rect">
            <a:avLst/>
          </a:prstGeom>
          <a:noFill/>
        </p:spPr>
        <p:txBody>
          <a:bodyPr wrap="square">
            <a:spAutoFit/>
          </a:bodyPr>
          <a:lstStyle/>
          <a:p>
            <a:pPr algn="ctr"/>
            <a:r>
              <a:rPr sz="1400" b="0" i="0">
                <a:solidFill>
                  <a:srgbClr val="F8FAFC"/>
                </a:solidFill>
                <a:latin typeface="Arial"/>
              </a:rPr>
              <a:t>Domain
(model, port in/out, service)</a:t>
            </a:r>
          </a:p>
        </p:txBody>
      </p:sp>
      <p:sp>
        <p:nvSpPr>
          <p:cNvPr id="5" name="Rectangle 4"/>
          <p:cNvSpPr/>
          <p:nvPr/>
        </p:nvSpPr>
        <p:spPr>
          <a:xfrm>
            <a:off x="3200400" y="1371600"/>
            <a:ext cx="5760720" cy="4114800"/>
          </a:xfrm>
          <a:prstGeom prst="rect">
            <a:avLst/>
          </a:prstGeom>
          <a:no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1463040"/>
            <a:ext cx="5760720" cy="457200"/>
          </a:xfrm>
          <a:prstGeom prst="rect">
            <a:avLst/>
          </a:prstGeom>
          <a:noFill/>
        </p:spPr>
        <p:txBody>
          <a:bodyPr wrap="square">
            <a:spAutoFit/>
          </a:bodyPr>
          <a:lstStyle/>
          <a:p>
            <a:pPr algn="ctr"/>
            <a:r>
              <a:rPr sz="1400" b="0" i="0">
                <a:solidFill>
                  <a:srgbClr val="F8FAFC"/>
                </a:solidFill>
                <a:latin typeface="Arial"/>
              </a:rPr>
              <a:t>Application</a:t>
            </a:r>
          </a:p>
        </p:txBody>
      </p:sp>
      <p:sp>
        <p:nvSpPr>
          <p:cNvPr id="7" name="Rectangle 6"/>
          <p:cNvSpPr/>
          <p:nvPr/>
        </p:nvSpPr>
        <p:spPr>
          <a:xfrm>
            <a:off x="1828800" y="457200"/>
            <a:ext cx="8503920" cy="5943600"/>
          </a:xfrm>
          <a:prstGeom prst="rect">
            <a:avLst/>
          </a:prstGeom>
          <a:no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48640"/>
            <a:ext cx="8503920" cy="457200"/>
          </a:xfrm>
          <a:prstGeom prst="rect">
            <a:avLst/>
          </a:prstGeom>
          <a:noFill/>
        </p:spPr>
        <p:txBody>
          <a:bodyPr wrap="square">
            <a:spAutoFit/>
          </a:bodyPr>
          <a:lstStyle/>
          <a:p>
            <a:pPr algn="ctr"/>
            <a:r>
              <a:rPr sz="1400" b="0" i="0">
                <a:solidFill>
                  <a:srgbClr val="F8FAFC"/>
                </a:solidFill>
                <a:latin typeface="Arial"/>
              </a:rPr>
              <a:t>Infrastructure (adapters, config)</a:t>
            </a:r>
          </a:p>
        </p:txBody>
      </p:sp>
      <p:sp>
        <p:nvSpPr>
          <p:cNvPr id="9" name="TextBox 8"/>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10" name="TextBox 9"/>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B3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Backup: Capability composition</a:t>
            </a:r>
          </a:p>
        </p:txBody>
      </p:sp>
      <p:sp>
        <p:nvSpPr>
          <p:cNvPr id="3" name="Rectangle 2"/>
          <p:cNvSpPr/>
          <p:nvPr/>
        </p:nvSpPr>
        <p:spPr>
          <a:xfrm>
            <a:off x="1828800" y="1828800"/>
            <a:ext cx="3657600" cy="36576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28800" y="1828800"/>
            <a:ext cx="365760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103120" y="2011680"/>
            <a:ext cx="3108960" cy="457200"/>
          </a:xfrm>
          <a:prstGeom prst="rect">
            <a:avLst/>
          </a:prstGeom>
          <a:noFill/>
        </p:spPr>
        <p:txBody>
          <a:bodyPr wrap="square">
            <a:spAutoFit/>
          </a:bodyPr>
          <a:lstStyle/>
          <a:p>
            <a:pPr algn="l"/>
            <a:r>
              <a:rPr sz="1800" b="1" i="0">
                <a:solidFill>
                  <a:srgbClr val="F8FAFC"/>
                </a:solidFill>
                <a:latin typeface="Arial"/>
              </a:rPr>
              <a:t>Always Included</a:t>
            </a:r>
          </a:p>
        </p:txBody>
      </p:sp>
      <p:sp>
        <p:nvSpPr>
          <p:cNvPr id="6" name="TextBox 5"/>
          <p:cNvSpPr txBox="1"/>
          <p:nvPr/>
        </p:nvSpPr>
        <p:spPr>
          <a:xfrm>
            <a:off x="2103120" y="2560320"/>
            <a:ext cx="3108960" cy="2743200"/>
          </a:xfrm>
          <a:prstGeom prst="rect">
            <a:avLst/>
          </a:prstGeom>
          <a:noFill/>
        </p:spPr>
        <p:txBody>
          <a:bodyPr wrap="square">
            <a:spAutoFit/>
          </a:bodyPr>
          <a:lstStyle/>
          <a:p>
            <a:r>
              <a:rPr sz="1400">
                <a:solidFill>
                  <a:srgbClr val="CBD5E1"/>
                </a:solidFill>
                <a:latin typeface="Arial"/>
              </a:rPr>
              <a:t>core</a:t>
            </a:r>
          </a:p>
          <a:p>
            <a:pPr>
              <a:spcBef>
                <a:spcPts val="800"/>
              </a:spcBef>
            </a:pPr>
            <a:r>
              <a:rPr sz="1400">
                <a:solidFill>
                  <a:srgbClr val="CBD5E1"/>
                </a:solidFill>
                <a:latin typeface="Arial"/>
              </a:rPr>
              <a:t>api</a:t>
            </a:r>
          </a:p>
          <a:p>
            <a:pPr>
              <a:spcBef>
                <a:spcPts val="800"/>
              </a:spcBef>
            </a:pPr>
            <a:r>
              <a:rPr sz="1400">
                <a:solidFill>
                  <a:srgbClr val="CBD5E1"/>
                </a:solidFill>
                <a:latin typeface="Arial"/>
              </a:rPr>
              <a:t>security</a:t>
            </a:r>
          </a:p>
          <a:p>
            <a:pPr>
              <a:spcBef>
                <a:spcPts val="800"/>
              </a:spcBef>
            </a:pPr>
            <a:r>
              <a:rPr sz="1400">
                <a:solidFill>
                  <a:srgbClr val="CBD5E1"/>
                </a:solidFill>
                <a:latin typeface="Arial"/>
              </a:rPr>
              <a:t>logging</a:t>
            </a:r>
          </a:p>
          <a:p>
            <a:pPr>
              <a:spcBef>
                <a:spcPts val="800"/>
              </a:spcBef>
            </a:pPr>
            <a:r>
              <a:rPr sz="1400">
                <a:solidFill>
                  <a:srgbClr val="CBD5E1"/>
                </a:solidFill>
                <a:latin typeface="Arial"/>
              </a:rPr>
              <a:t>observability</a:t>
            </a:r>
          </a:p>
          <a:p>
            <a:pPr>
              <a:spcBef>
                <a:spcPts val="800"/>
              </a:spcBef>
            </a:pPr>
            <a:r>
              <a:rPr sz="1400">
                <a:solidFill>
                  <a:srgbClr val="CBD5E1"/>
                </a:solidFill>
                <a:latin typeface="Arial"/>
              </a:rPr>
              <a:t>mapping</a:t>
            </a:r>
          </a:p>
          <a:p>
            <a:pPr>
              <a:spcBef>
                <a:spcPts val="800"/>
              </a:spcBef>
            </a:pPr>
            <a:r>
              <a:rPr sz="1400">
                <a:solidFill>
                  <a:srgbClr val="CBD5E1"/>
                </a:solidFill>
                <a:latin typeface="Arial"/>
              </a:rPr>
              <a:t>test</a:t>
            </a:r>
          </a:p>
        </p:txBody>
      </p:sp>
      <p:sp>
        <p:nvSpPr>
          <p:cNvPr id="7" name="Rectangle 6"/>
          <p:cNvSpPr/>
          <p:nvPr/>
        </p:nvSpPr>
        <p:spPr>
          <a:xfrm>
            <a:off x="1828800" y="6400800"/>
            <a:ext cx="3657600" cy="36576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0" y="6400800"/>
            <a:ext cx="365760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03120" y="6583680"/>
            <a:ext cx="3108960" cy="457200"/>
          </a:xfrm>
          <a:prstGeom prst="rect">
            <a:avLst/>
          </a:prstGeom>
          <a:noFill/>
        </p:spPr>
        <p:txBody>
          <a:bodyPr wrap="square">
            <a:spAutoFit/>
          </a:bodyPr>
          <a:lstStyle/>
          <a:p>
            <a:pPr algn="l"/>
            <a:r>
              <a:rPr sz="1800" b="1" i="0">
                <a:solidFill>
                  <a:srgbClr val="F8FAFC"/>
                </a:solidFill>
                <a:latin typeface="Arial"/>
              </a:rPr>
              <a:t>Optional (On-Demand)</a:t>
            </a:r>
          </a:p>
        </p:txBody>
      </p:sp>
      <p:sp>
        <p:nvSpPr>
          <p:cNvPr id="10" name="TextBox 9"/>
          <p:cNvSpPr txBox="1"/>
          <p:nvPr/>
        </p:nvSpPr>
        <p:spPr>
          <a:xfrm>
            <a:off x="2103120" y="7132320"/>
            <a:ext cx="3108960" cy="2743200"/>
          </a:xfrm>
          <a:prstGeom prst="rect">
            <a:avLst/>
          </a:prstGeom>
          <a:noFill/>
        </p:spPr>
        <p:txBody>
          <a:bodyPr wrap="square">
            <a:spAutoFit/>
          </a:bodyPr>
          <a:lstStyle/>
          <a:p>
            <a:r>
              <a:rPr sz="1400">
                <a:solidFill>
                  <a:srgbClr val="CBD5E1"/>
                </a:solidFill>
                <a:latin typeface="Arial"/>
              </a:rPr>
              <a:t>data</a:t>
            </a:r>
          </a:p>
          <a:p>
            <a:pPr>
              <a:spcBef>
                <a:spcPts val="800"/>
              </a:spcBef>
            </a:pPr>
            <a:r>
              <a:rPr sz="1400">
                <a:solidFill>
                  <a:srgbClr val="CBD5E1"/>
                </a:solidFill>
                <a:latin typeface="Arial"/>
              </a:rPr>
              <a:t>nats</a:t>
            </a:r>
          </a:p>
          <a:p>
            <a:pPr>
              <a:spcBef>
                <a:spcPts val="800"/>
              </a:spcBef>
            </a:pPr>
            <a:r>
              <a:rPr sz="1400">
                <a:solidFill>
                  <a:srgbClr val="CBD5E1"/>
                </a:solidFill>
                <a:latin typeface="Arial"/>
              </a:rPr>
              <a:t>http-client</a:t>
            </a:r>
          </a:p>
          <a:p>
            <a:pPr>
              <a:spcBef>
                <a:spcPts val="800"/>
              </a:spcBef>
            </a:pPr>
            <a:r>
              <a:rPr sz="1400">
                <a:solidFill>
                  <a:srgbClr val="CBD5E1"/>
                </a:solidFill>
                <a:latin typeface="Arial"/>
              </a:rPr>
              <a:t>soap-client</a:t>
            </a:r>
          </a:p>
        </p:txBody>
      </p:sp>
      <p:sp>
        <p:nvSpPr>
          <p:cNvPr id="11" name="TextBox 10"/>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12" name="TextBox 11"/>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B4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Backup: Security model</a:t>
            </a:r>
          </a:p>
        </p:txBody>
      </p:sp>
      <p:sp>
        <p:nvSpPr>
          <p:cNvPr id="3" name="Rectangle 2"/>
          <p:cNvSpPr/>
          <p:nvPr/>
        </p:nvSpPr>
        <p:spPr>
          <a:xfrm>
            <a:off x="2743200" y="914400"/>
            <a:ext cx="3657600" cy="22860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0" y="914400"/>
            <a:ext cx="3657600" cy="54864"/>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17520" y="1097280"/>
            <a:ext cx="3108960" cy="457200"/>
          </a:xfrm>
          <a:prstGeom prst="rect">
            <a:avLst/>
          </a:prstGeom>
          <a:noFill/>
        </p:spPr>
        <p:txBody>
          <a:bodyPr wrap="square">
            <a:spAutoFit/>
          </a:bodyPr>
          <a:lstStyle/>
          <a:p>
            <a:pPr algn="l"/>
            <a:r>
              <a:rPr sz="1800" b="1" i="0">
                <a:solidFill>
                  <a:srgbClr val="F8FAFC"/>
                </a:solidFill>
                <a:latin typeface="Arial"/>
              </a:rPr>
              <a:t>Gravitee API Gateway</a:t>
            </a:r>
          </a:p>
        </p:txBody>
      </p:sp>
      <p:sp>
        <p:nvSpPr>
          <p:cNvPr id="6" name="TextBox 5"/>
          <p:cNvSpPr txBox="1"/>
          <p:nvPr/>
        </p:nvSpPr>
        <p:spPr>
          <a:xfrm>
            <a:off x="3017520" y="1645920"/>
            <a:ext cx="3108960" cy="1371600"/>
          </a:xfrm>
          <a:prstGeom prst="rect">
            <a:avLst/>
          </a:prstGeom>
          <a:noFill/>
        </p:spPr>
        <p:txBody>
          <a:bodyPr wrap="square">
            <a:spAutoFit/>
          </a:bodyPr>
          <a:lstStyle/>
          <a:p>
            <a:r>
              <a:rPr sz="1400">
                <a:solidFill>
                  <a:srgbClr val="CBD5E1"/>
                </a:solidFill>
                <a:latin typeface="Arial"/>
              </a:rPr>
              <a:t>Gateway routing</a:t>
            </a:r>
          </a:p>
          <a:p>
            <a:pPr>
              <a:spcBef>
                <a:spcPts val="800"/>
              </a:spcBef>
            </a:pPr>
            <a:r>
              <a:rPr sz="1400">
                <a:solidFill>
                  <a:srgbClr val="CBD5E1"/>
                </a:solidFill>
                <a:latin typeface="Arial"/>
              </a:rPr>
              <a:t>Policies &amp; rate limiting</a:t>
            </a:r>
          </a:p>
          <a:p>
            <a:pPr>
              <a:spcBef>
                <a:spcPts val="800"/>
              </a:spcBef>
            </a:pPr>
            <a:r>
              <a:rPr sz="1400">
                <a:solidFill>
                  <a:srgbClr val="CBD5E1"/>
                </a:solidFill>
                <a:latin typeface="Arial"/>
              </a:rPr>
              <a:t>Access control</a:t>
            </a:r>
          </a:p>
        </p:txBody>
      </p:sp>
      <p:sp>
        <p:nvSpPr>
          <p:cNvPr id="7" name="TextBox 6"/>
          <p:cNvSpPr txBox="1"/>
          <p:nvPr/>
        </p:nvSpPr>
        <p:spPr>
          <a:xfrm>
            <a:off x="4572000" y="3657600"/>
            <a:ext cx="2743200" cy="457200"/>
          </a:xfrm>
          <a:prstGeom prst="rect">
            <a:avLst/>
          </a:prstGeom>
          <a:noFill/>
        </p:spPr>
        <p:txBody>
          <a:bodyPr wrap="square">
            <a:spAutoFit/>
          </a:bodyPr>
          <a:lstStyle/>
          <a:p>
            <a:pPr algn="ctr"/>
            <a:r>
              <a:rPr sz="1400" b="0" i="0">
                <a:solidFill>
                  <a:srgbClr val="38BDF8"/>
                </a:solidFill>
                <a:latin typeface="Arial"/>
              </a:rPr>
              <a:t>--- JWT Token ---&gt;</a:t>
            </a:r>
          </a:p>
        </p:txBody>
      </p:sp>
      <p:sp>
        <p:nvSpPr>
          <p:cNvPr id="8" name="Rectangle 7"/>
          <p:cNvSpPr/>
          <p:nvPr/>
        </p:nvSpPr>
        <p:spPr>
          <a:xfrm>
            <a:off x="2743200" y="7315200"/>
            <a:ext cx="3657600" cy="22860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0" y="7315200"/>
            <a:ext cx="365760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7498080"/>
            <a:ext cx="3108960" cy="457200"/>
          </a:xfrm>
          <a:prstGeom prst="rect">
            <a:avLst/>
          </a:prstGeom>
          <a:noFill/>
        </p:spPr>
        <p:txBody>
          <a:bodyPr wrap="square">
            <a:spAutoFit/>
          </a:bodyPr>
          <a:lstStyle/>
          <a:p>
            <a:pPr algn="l"/>
            <a:r>
              <a:rPr sz="1800" b="1" i="0">
                <a:solidFill>
                  <a:srgbClr val="F8FAFC"/>
                </a:solidFill>
                <a:latin typeface="Arial"/>
              </a:rPr>
              <a:t>Spring Boot Service</a:t>
            </a:r>
          </a:p>
        </p:txBody>
      </p:sp>
      <p:sp>
        <p:nvSpPr>
          <p:cNvPr id="11" name="TextBox 10"/>
          <p:cNvSpPr txBox="1"/>
          <p:nvPr/>
        </p:nvSpPr>
        <p:spPr>
          <a:xfrm>
            <a:off x="3017520" y="8046720"/>
            <a:ext cx="3108960" cy="1371600"/>
          </a:xfrm>
          <a:prstGeom prst="rect">
            <a:avLst/>
          </a:prstGeom>
          <a:noFill/>
        </p:spPr>
        <p:txBody>
          <a:bodyPr wrap="square">
            <a:spAutoFit/>
          </a:bodyPr>
          <a:lstStyle/>
          <a:p>
            <a:r>
              <a:rPr sz="1400">
                <a:solidFill>
                  <a:srgbClr val="CBD5E1"/>
                </a:solidFill>
                <a:latin typeface="Arial"/>
              </a:rPr>
              <a:t>OAuth2 Resource Server</a:t>
            </a:r>
          </a:p>
          <a:p>
            <a:pPr>
              <a:spcBef>
                <a:spcPts val="800"/>
              </a:spcBef>
            </a:pPr>
            <a:r>
              <a:rPr sz="1400">
                <a:solidFill>
                  <a:srgbClr val="CBD5E1"/>
                </a:solidFill>
                <a:latin typeface="Arial"/>
              </a:rPr>
              <a:t>JWT Validation</a:t>
            </a:r>
          </a:p>
          <a:p>
            <a:pPr>
              <a:spcBef>
                <a:spcPts val="800"/>
              </a:spcBef>
            </a:pPr>
            <a:r>
              <a:rPr sz="1400">
                <a:solidFill>
                  <a:srgbClr val="CBD5E1"/>
                </a:solidFill>
                <a:latin typeface="Arial"/>
              </a:rPr>
              <a:t>Roles / scopes</a:t>
            </a:r>
          </a:p>
        </p:txBody>
      </p:sp>
      <p:sp>
        <p:nvSpPr>
          <p:cNvPr id="12" name="TextBox 11"/>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13" name="TextBox 12"/>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B5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Backup: Deployment boundary</a:t>
            </a:r>
          </a:p>
        </p:txBody>
      </p:sp>
      <p:sp>
        <p:nvSpPr>
          <p:cNvPr id="3" name="Rectangle 2"/>
          <p:cNvSpPr/>
          <p:nvPr/>
        </p:nvSpPr>
        <p:spPr>
          <a:xfrm>
            <a:off x="1828800" y="914400"/>
            <a:ext cx="4572000" cy="32004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28800" y="914400"/>
            <a:ext cx="457200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103120" y="1097280"/>
            <a:ext cx="4023360" cy="457200"/>
          </a:xfrm>
          <a:prstGeom prst="rect">
            <a:avLst/>
          </a:prstGeom>
          <a:noFill/>
        </p:spPr>
        <p:txBody>
          <a:bodyPr wrap="square">
            <a:spAutoFit/>
          </a:bodyPr>
          <a:lstStyle/>
          <a:p>
            <a:pPr algn="l"/>
            <a:r>
              <a:rPr sz="1800" b="1" i="0">
                <a:solidFill>
                  <a:srgbClr val="F8FAFC"/>
                </a:solidFill>
                <a:latin typeface="Arial"/>
              </a:rPr>
              <a:t>Inside foundation-platform</a:t>
            </a:r>
          </a:p>
        </p:txBody>
      </p:sp>
      <p:sp>
        <p:nvSpPr>
          <p:cNvPr id="6" name="TextBox 5"/>
          <p:cNvSpPr txBox="1"/>
          <p:nvPr/>
        </p:nvSpPr>
        <p:spPr>
          <a:xfrm>
            <a:off x="2103120" y="1645920"/>
            <a:ext cx="4023360" cy="2286000"/>
          </a:xfrm>
          <a:prstGeom prst="rect">
            <a:avLst/>
          </a:prstGeom>
          <a:noFill/>
        </p:spPr>
        <p:txBody>
          <a:bodyPr wrap="square">
            <a:spAutoFit/>
          </a:bodyPr>
          <a:lstStyle/>
          <a:p>
            <a:r>
              <a:rPr sz="1400">
                <a:solidFill>
                  <a:srgbClr val="CBD5E1"/>
                </a:solidFill>
                <a:latin typeface="Arial"/>
              </a:rPr>
              <a:t>parent</a:t>
            </a:r>
          </a:p>
          <a:p>
            <a:pPr>
              <a:spcBef>
                <a:spcPts val="800"/>
              </a:spcBef>
            </a:pPr>
            <a:r>
              <a:rPr sz="1400">
                <a:solidFill>
                  <a:srgbClr val="CBD5E1"/>
                </a:solidFill>
                <a:latin typeface="Arial"/>
              </a:rPr>
              <a:t>BOM</a:t>
            </a:r>
          </a:p>
          <a:p>
            <a:pPr>
              <a:spcBef>
                <a:spcPts val="800"/>
              </a:spcBef>
            </a:pPr>
            <a:r>
              <a:rPr sz="1400">
                <a:solidFill>
                  <a:srgbClr val="CBD5E1"/>
                </a:solidFill>
                <a:latin typeface="Arial"/>
              </a:rPr>
              <a:t>starters</a:t>
            </a:r>
          </a:p>
          <a:p>
            <a:pPr>
              <a:spcBef>
                <a:spcPts val="800"/>
              </a:spcBef>
            </a:pPr>
            <a:r>
              <a:rPr sz="1400">
                <a:solidFill>
                  <a:srgbClr val="CBD5E1"/>
                </a:solidFill>
                <a:latin typeface="Arial"/>
              </a:rPr>
              <a:t>common utilities</a:t>
            </a:r>
          </a:p>
          <a:p>
            <a:pPr>
              <a:spcBef>
                <a:spcPts val="800"/>
              </a:spcBef>
            </a:pPr>
            <a:r>
              <a:rPr sz="1400">
                <a:solidFill>
                  <a:srgbClr val="CBD5E1"/>
                </a:solidFill>
                <a:latin typeface="Arial"/>
              </a:rPr>
              <a:t>archetype templates</a:t>
            </a:r>
          </a:p>
        </p:txBody>
      </p:sp>
      <p:sp>
        <p:nvSpPr>
          <p:cNvPr id="7" name="Rectangle 6"/>
          <p:cNvSpPr/>
          <p:nvPr/>
        </p:nvSpPr>
        <p:spPr>
          <a:xfrm>
            <a:off x="1828800" y="6400800"/>
            <a:ext cx="4572000" cy="3200400"/>
          </a:xfrm>
          <a:prstGeom prst="rect">
            <a:avLst/>
          </a:prstGeom>
          <a:solidFill>
            <a:srgbClr val="11182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0" y="6400800"/>
            <a:ext cx="4572000" cy="54864"/>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03120" y="6583680"/>
            <a:ext cx="4023360" cy="457200"/>
          </a:xfrm>
          <a:prstGeom prst="rect">
            <a:avLst/>
          </a:prstGeom>
          <a:noFill/>
        </p:spPr>
        <p:txBody>
          <a:bodyPr wrap="square">
            <a:spAutoFit/>
          </a:bodyPr>
          <a:lstStyle/>
          <a:p>
            <a:pPr algn="l"/>
            <a:r>
              <a:rPr sz="1800" b="1" i="0">
                <a:solidFill>
                  <a:srgbClr val="F8FAFC"/>
                </a:solidFill>
                <a:latin typeface="Arial"/>
              </a:rPr>
              <a:t>Outside foundation-platform</a:t>
            </a:r>
          </a:p>
        </p:txBody>
      </p:sp>
      <p:sp>
        <p:nvSpPr>
          <p:cNvPr id="10" name="TextBox 9"/>
          <p:cNvSpPr txBox="1"/>
          <p:nvPr/>
        </p:nvSpPr>
        <p:spPr>
          <a:xfrm>
            <a:off x="2103120" y="7132320"/>
            <a:ext cx="4023360" cy="2286000"/>
          </a:xfrm>
          <a:prstGeom prst="rect">
            <a:avLst/>
          </a:prstGeom>
          <a:noFill/>
        </p:spPr>
        <p:txBody>
          <a:bodyPr wrap="square">
            <a:spAutoFit/>
          </a:bodyPr>
          <a:lstStyle/>
          <a:p>
            <a:r>
              <a:rPr sz="1400">
                <a:solidFill>
                  <a:srgbClr val="CBD5E1"/>
                </a:solidFill>
                <a:latin typeface="Arial"/>
              </a:rPr>
              <a:t>Helm charts</a:t>
            </a:r>
          </a:p>
          <a:p>
            <a:pPr>
              <a:spcBef>
                <a:spcPts val="800"/>
              </a:spcBef>
            </a:pPr>
            <a:r>
              <a:rPr sz="1400">
                <a:solidFill>
                  <a:srgbClr val="CBD5E1"/>
                </a:solidFill>
                <a:latin typeface="Arial"/>
              </a:rPr>
              <a:t>Kubernetes manifests</a:t>
            </a:r>
          </a:p>
          <a:p>
            <a:pPr>
              <a:spcBef>
                <a:spcPts val="800"/>
              </a:spcBef>
            </a:pPr>
            <a:r>
              <a:rPr sz="1400">
                <a:solidFill>
                  <a:srgbClr val="CBD5E1"/>
                </a:solidFill>
                <a:latin typeface="Arial"/>
              </a:rPr>
              <a:t>Runtime CI/CD</a:t>
            </a:r>
          </a:p>
          <a:p>
            <a:pPr>
              <a:spcBef>
                <a:spcPts val="800"/>
              </a:spcBef>
            </a:pPr>
            <a:r>
              <a:rPr sz="1400">
                <a:solidFill>
                  <a:srgbClr val="CBD5E1"/>
                </a:solidFill>
                <a:latin typeface="Arial"/>
              </a:rPr>
              <a:t>Service repositories</a:t>
            </a:r>
          </a:p>
        </p:txBody>
      </p:sp>
      <p:sp>
        <p:nvSpPr>
          <p:cNvPr id="11" name="TextBox 10"/>
          <p:cNvSpPr txBox="1"/>
          <p:nvPr/>
        </p:nvSpPr>
        <p:spPr>
          <a:xfrm>
            <a:off x="914400" y="5486400"/>
            <a:ext cx="10058400" cy="457200"/>
          </a:xfrm>
          <a:prstGeom prst="rect">
            <a:avLst/>
          </a:prstGeom>
          <a:noFill/>
        </p:spPr>
        <p:txBody>
          <a:bodyPr wrap="square">
            <a:spAutoFit/>
          </a:bodyPr>
          <a:lstStyle/>
          <a:p>
            <a:pPr algn="l"/>
            <a:r>
              <a:rPr sz="1600" b="0" i="1">
                <a:solidFill>
                  <a:srgbClr val="22C55E"/>
                </a:solidFill>
                <a:latin typeface="Arial"/>
              </a:rPr>
              <a:t>The foundation is a development accelerator, not a deployment platform.</a:t>
            </a:r>
          </a:p>
        </p:txBody>
      </p:sp>
      <p:sp>
        <p:nvSpPr>
          <p:cNvPr id="12" name="TextBox 11"/>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13" name="TextBox 12"/>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B6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Backup: Integration model</a:t>
            </a:r>
          </a:p>
        </p:txBody>
      </p:sp>
      <p:sp>
        <p:nvSpPr>
          <p:cNvPr id="3" name="TextBox 2"/>
          <p:cNvSpPr txBox="1"/>
          <p:nvPr/>
        </p:nvSpPr>
        <p:spPr>
          <a:xfrm>
            <a:off x="914400" y="2286000"/>
            <a:ext cx="10058400" cy="2743200"/>
          </a:xfrm>
          <a:prstGeom prst="rect">
            <a:avLst/>
          </a:prstGeom>
          <a:noFill/>
        </p:spPr>
        <p:txBody>
          <a:bodyPr wrap="square">
            <a:spAutoFit/>
          </a:bodyPr>
          <a:lstStyle/>
          <a:p>
            <a:r>
              <a:rPr sz="1600">
                <a:solidFill>
                  <a:srgbClr val="CBD5E1"/>
                </a:solidFill>
                <a:latin typeface="Arial"/>
              </a:rPr>
              <a:t>REST: OpenAPI contract → generated client → WebClient → adapter</a:t>
            </a:r>
          </a:p>
          <a:p>
            <a:pPr>
              <a:spcBef>
                <a:spcPts val="1600"/>
              </a:spcBef>
            </a:pPr>
            <a:r>
              <a:rPr sz="1600">
                <a:solidFill>
                  <a:srgbClr val="CBD5E1"/>
                </a:solidFill>
                <a:latin typeface="Arial"/>
              </a:rPr>
              <a:t>SOAP: WSDL contract → generated CXF client → SOAP runtime → adapter</a:t>
            </a:r>
          </a:p>
          <a:p>
            <a:pPr>
              <a:spcBef>
                <a:spcPts val="1600"/>
              </a:spcBef>
            </a:pPr>
            <a:r>
              <a:rPr sz="1600">
                <a:solidFill>
                  <a:srgbClr val="CBD5E1"/>
                </a:solidFill>
                <a:latin typeface="Arial"/>
              </a:rPr>
              <a:t>Messaging: NATS subject → envelope → consumer → idempotence</a:t>
            </a:r>
          </a:p>
        </p:txBody>
      </p:sp>
      <p:sp>
        <p:nvSpPr>
          <p:cNvPr id="4" name="TextBox 3"/>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5" name="TextBox 4"/>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B7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a:spAutoFit/>
          </a:bodyPr>
          <a:lstStyle/>
          <a:p>
            <a:pPr algn="l"/>
            <a:r>
              <a:rPr sz="3600" b="1" i="0">
                <a:solidFill>
                  <a:srgbClr val="F8FAFC"/>
                </a:solidFill>
                <a:latin typeface="Arial"/>
              </a:rPr>
              <a:t>Backup: Risks &amp; Mitigations</a:t>
            </a:r>
          </a:p>
        </p:txBody>
      </p:sp>
      <p:sp>
        <p:nvSpPr>
          <p:cNvPr id="3" name="TextBox 2"/>
          <p:cNvSpPr txBox="1"/>
          <p:nvPr/>
        </p:nvSpPr>
        <p:spPr>
          <a:xfrm>
            <a:off x="914400" y="2286000"/>
            <a:ext cx="10058400" cy="2743200"/>
          </a:xfrm>
          <a:prstGeom prst="rect">
            <a:avLst/>
          </a:prstGeom>
          <a:noFill/>
        </p:spPr>
        <p:txBody>
          <a:bodyPr wrap="square">
            <a:spAutoFit/>
          </a:bodyPr>
          <a:lstStyle/>
          <a:p>
            <a:r>
              <a:rPr sz="1400">
                <a:solidFill>
                  <a:srgbClr val="CBD5E1"/>
                </a:solidFill>
                <a:latin typeface="Arial"/>
              </a:rPr>
              <a:t>1. Heavy framework perception → Kept Spring Boot-native with clear overrides</a:t>
            </a:r>
          </a:p>
          <a:p>
            <a:pPr>
              <a:spcBef>
                <a:spcPts val="1600"/>
              </a:spcBef>
            </a:pPr>
            <a:r>
              <a:rPr sz="1400">
                <a:solidFill>
                  <a:srgbClr val="CBD5E1"/>
                </a:solidFill>
                <a:latin typeface="Arial"/>
              </a:rPr>
              <a:t>2. Teams bypass the foundation → Archetype DX made faster than manual setup</a:t>
            </a:r>
          </a:p>
          <a:p>
            <a:pPr>
              <a:spcBef>
                <a:spcPts val="1600"/>
              </a:spcBef>
            </a:pPr>
            <a:r>
              <a:rPr sz="1400">
                <a:solidFill>
                  <a:srgbClr val="CBD5E1"/>
                </a:solidFill>
                <a:latin typeface="Arial"/>
              </a:rPr>
              <a:t>3. Creeping mandatory features → Maintained strict dependency-driven composition</a:t>
            </a:r>
          </a:p>
          <a:p>
            <a:pPr>
              <a:spcBef>
                <a:spcPts val="1600"/>
              </a:spcBef>
            </a:pPr>
            <a:r>
              <a:rPr sz="1400">
                <a:solidFill>
                  <a:srgbClr val="CBD5E1"/>
                </a:solidFill>
                <a:latin typeface="Arial"/>
              </a:rPr>
              <a:t>4. Leaking generated clients → Mapped via infrastructure adapters (hexagonal)</a:t>
            </a:r>
          </a:p>
        </p:txBody>
      </p:sp>
      <p:sp>
        <p:nvSpPr>
          <p:cNvPr id="4" name="TextBox 3"/>
          <p:cNvSpPr txBox="1"/>
          <p:nvPr/>
        </p:nvSpPr>
        <p:spPr>
          <a:xfrm>
            <a:off x="731520" y="6309360"/>
            <a:ext cx="2743200" cy="365760"/>
          </a:xfrm>
          <a:prstGeom prst="rect">
            <a:avLst/>
          </a:prstGeom>
          <a:noFill/>
        </p:spPr>
        <p:txBody>
          <a:bodyPr wrap="square">
            <a:spAutoFit/>
          </a:bodyPr>
          <a:lstStyle/>
          <a:p>
            <a:pPr algn="l"/>
            <a:r>
              <a:rPr sz="1000" b="0" i="0">
                <a:solidFill>
                  <a:srgbClr val="94A3B8"/>
                </a:solidFill>
                <a:latin typeface="Arial"/>
              </a:rPr>
              <a:t>foundation-platform</a:t>
            </a:r>
          </a:p>
        </p:txBody>
      </p:sp>
      <p:sp>
        <p:nvSpPr>
          <p:cNvPr id="5" name="TextBox 4"/>
          <p:cNvSpPr txBox="1"/>
          <p:nvPr/>
        </p:nvSpPr>
        <p:spPr>
          <a:xfrm>
            <a:off x="11091672" y="6309360"/>
            <a:ext cx="457200" cy="365760"/>
          </a:xfrm>
          <a:prstGeom prst="rect">
            <a:avLst/>
          </a:prstGeom>
          <a:noFill/>
        </p:spPr>
        <p:txBody>
          <a:bodyPr wrap="square">
            <a:spAutoFit/>
          </a:bodyPr>
          <a:lstStyle/>
          <a:p>
            <a:pPr algn="r"/>
            <a:r>
              <a:rPr sz="1000" b="0" i="0">
                <a:solidFill>
                  <a:srgbClr val="94A3B8"/>
                </a:solidFill>
                <a:latin typeface="Arial"/>
              </a:rPr>
              <a:t>B8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