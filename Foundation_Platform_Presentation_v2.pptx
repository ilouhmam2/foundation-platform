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27432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8472" y="0"/>
            <a:ext cx="3840480" cy="2011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48472" y="0"/>
            <a:ext cx="3840480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3200400" cy="38404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92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B2A"/>
                </a:solidFill>
                <a:latin typeface="Calibri"/>
              </a:rPr>
              <a:t>SOLUTION ARCHITECTURE · SOCLE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 Light"/>
              </a:rPr>
              <a:t>Foundation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C2E0"/>
                </a:solidFill>
                <a:latin typeface="Calibri Light"/>
              </a:rPr>
              <a:t>Accélérer la migration · Standardiser · Industrialiser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8B8"/>
                </a:solidFill>
                <a:latin typeface="Calibri"/>
              </a:rPr>
              <a:t>Spring Boot 4.1 · Java 21 · Architecture Hexagonale · Apache Camel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0292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Présenté par : Équipe Architecture Socle</a:t>
            </a:r>
          </a:p>
          <a:p>
            <a:r>
              <a:rPr sz="1200" b="0">
                <a:solidFill>
                  <a:srgbClr val="9AA8B8"/>
                </a:solidFill>
                <a:latin typeface="Calibri"/>
              </a:rPr>
              <a:t>Juillet 2026  ·  Confidentiel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22860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Au programme de cette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029200" cy="254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457200" cy="40233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55064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Vision &amp; Philosophie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299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8"/>
                </a:solidFill>
                <a:latin typeface="Calibri"/>
              </a:rPr>
              <a:t>Ce qu'est le socle, ce qu'il n'est pas, ses 4 principes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457200" cy="40233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32304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Architecture &amp;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072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8"/>
                </a:solidFill>
                <a:latin typeface="Calibri"/>
              </a:rPr>
              <a:t>Vue d'ensemble + deep dive de chaque starter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457200" cy="40233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09544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Developer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5844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8"/>
                </a:solidFill>
                <a:latin typeface="Calibri"/>
              </a:rPr>
              <a:t>Maven Archetype — service opérationnel en 30 secondes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40"/>
            <a:ext cx="457200" cy="40233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7764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986784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Bénéfices &amp; Valeur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6168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8"/>
                </a:solidFill>
                <a:latin typeface="Calibri"/>
              </a:rPr>
              <a:t>Vélocité, gouvernance, TCO, scalabilité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754880"/>
            <a:ext cx="457200" cy="40233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764024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Extension Apache Camel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1389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8"/>
                </a:solidFill>
                <a:latin typeface="Calibri"/>
              </a:rPr>
              <a:t>Pros/Cons · Intégration naturelle au socle · Recommandation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18288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3000" b="1" i="0">
                <a:solidFill>
                  <a:srgbClr val="1A60B0"/>
                </a:solidFill>
                <a:latin typeface="Calibri Light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32004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Vision &amp; Philosophie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2E0"/>
                </a:solidFill>
                <a:latin typeface="Calibri Light"/>
              </a:rPr>
              <a:t>Un socle léger, Spring Boot-native, non un framework custom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 Light"/>
              </a:rP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Foundation Platform — En 60 Secondes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98880"/>
            <a:ext cx="11457432" cy="51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81760"/>
            <a:ext cx="54864" cy="34747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1760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4E8A"/>
                </a:solidFill>
                <a:latin typeface="Calibri"/>
              </a:rPr>
              <a:t>Définition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84096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Un ensemble de Spring Boot Starters auto-configurés — prêts à l'emploi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22424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Un Maven Parent + BOM pour unifier build, versions et qualité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60752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Un Archetype Maven pour générer un service hexagonal en &lt; 30 secondes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72232"/>
            <a:ext cx="11091672" cy="127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00248"/>
            <a:ext cx="54864" cy="34747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00248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4E8A"/>
                </a:solidFill>
                <a:latin typeface="Calibri"/>
              </a:rPr>
              <a:t>Ce que c'est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02584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Pas un ESB — aucune orchestration centrale, aucun bus propriétaire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40912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Pas un framework custom — 100% Spring Boot standard, lisible, extensible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79240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Pas du vendor lock-in — chaque starter est indépendant et remplaçable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90720"/>
            <a:ext cx="11091672" cy="127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618736"/>
            <a:ext cx="54864" cy="34747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18736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4E8A"/>
                </a:solidFill>
                <a:latin typeface="Calibri"/>
              </a:rPr>
              <a:t>La promesse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021072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Chaque équipe livre son premier service sécurisé, observable, loggé en &lt; 1 journée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59400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Les standards sont enforced by design — pas par convention manuelle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97728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Le socle évolue sans forcer les services à se mettre à jour en urgence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4 Principes Fondateurs — Non Négociables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5486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5486" cy="6400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17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2E0"/>
                </a:solidFill>
                <a:latin typeface="Calibri 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38528"/>
            <a:ext cx="25260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Légèreté avant tout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2560320"/>
            <a:ext cx="36576" cy="18288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46888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Pas de framework propriétaire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2926080"/>
            <a:ext cx="36576" cy="18288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83464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Standard Spring Boot — lisible par tout dev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3291840"/>
            <a:ext cx="36576" cy="18288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20040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Pas de magie cachée, pas d'abstraction inutile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3657600"/>
            <a:ext cx="36576" cy="18288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56616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Un dev Spring Boot senior comprend le socle en 1h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0974" y="1280160"/>
            <a:ext cx="2745486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20974" y="1280160"/>
            <a:ext cx="2745486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0702" y="1417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A623"/>
                </a:solidFill>
                <a:latin typeface="Calibri Light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0702" y="1938528"/>
            <a:ext cx="25260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Composition par dépendances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48990" y="2560320"/>
            <a:ext cx="3657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0430" y="246888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Ajouter une dépendance = activer une capacité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48990" y="2926080"/>
            <a:ext cx="3657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0430" y="283464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Pas de flags enabled=true / false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48990" y="3291840"/>
            <a:ext cx="3657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0430" y="320040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Chaque service prend UNIQUEMENT ce dont il a besoin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48990" y="3657600"/>
            <a:ext cx="3657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0430" y="356616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Footprint minimal garanti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76188" y="1280160"/>
            <a:ext cx="2745486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76188" y="1280160"/>
            <a:ext cx="2745486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1417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  <a:latin typeface="Calibri Light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5916" y="1938528"/>
            <a:ext cx="25260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Override toujours possible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4204" y="2560320"/>
            <a:ext cx="36576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5644" y="246888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Chaque bean est @ConditionalOnMissingBean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4204" y="2926080"/>
            <a:ext cx="36576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5644" y="283464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L'équipe peut surcharger n'importe quel défaut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4204" y="3291840"/>
            <a:ext cx="36576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5644" y="320040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Pas besoin de forker le socle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4204" y="3657600"/>
            <a:ext cx="36576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5644" y="356616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Liberté sans chaos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31402" y="1280160"/>
            <a:ext cx="2745486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31402" y="1280160"/>
            <a:ext cx="2745486" cy="6400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41130" y="1417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Calibri Light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1130" y="1938528"/>
            <a:ext cx="25260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Responsabilité unique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9418" y="2560320"/>
            <a:ext cx="36576" cy="1828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50858" y="246888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Un starter = une capacité technique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9418" y="2926080"/>
            <a:ext cx="36576" cy="1828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50858" y="283464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Pas de starters qui font tout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9418" y="3291840"/>
            <a:ext cx="36576" cy="1828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50858" y="320040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Testable isolément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9418" y="3657600"/>
            <a:ext cx="36576" cy="1828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50858" y="3566160"/>
            <a:ext cx="23980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Évolution indépendante de chaque module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18288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3000" b="1" i="0">
                <a:solidFill>
                  <a:srgbClr val="1A60B0"/>
                </a:solidFill>
                <a:latin typeface="Calibri Light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32004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Architecture &amp;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2E0"/>
                </a:solidFill>
                <a:latin typeface="Calibri Light"/>
              </a:rPr>
              <a:t>11 starters · 1 archetype · une composition par dépendances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Architecture du Socle — Vue d'Ensemble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49680"/>
            <a:ext cx="1188720" cy="51206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49680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249680"/>
            <a:ext cx="2544318" cy="512064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249680"/>
            <a:ext cx="254431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Service Métier A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7358" y="1249680"/>
            <a:ext cx="2544318" cy="512064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7358" y="1249680"/>
            <a:ext cx="254431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Service Métier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3116" y="1249680"/>
            <a:ext cx="2544318" cy="512064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3116" y="1249680"/>
            <a:ext cx="254431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Service Métier 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78874" y="1249680"/>
            <a:ext cx="2544318" cy="51206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78874" y="1249680"/>
            <a:ext cx="254431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Service Métier N  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53184"/>
            <a:ext cx="1188720" cy="512064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853184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ARCHETYPE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1853184"/>
            <a:ext cx="10451592" cy="512064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1926336"/>
            <a:ext cx="10268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  <a:latin typeface="Calibri"/>
              </a:rPr>
              <a:t>foundation-archetype  →  génère le squelette hexagonal complet du service (domain / application / infrastructure)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56688"/>
            <a:ext cx="1188720" cy="5120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456688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0057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0057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88514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8514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6972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6972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logging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05429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05429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887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887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mapping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22344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22344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0802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0802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nats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39259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9259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http-client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97717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97717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soap-client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56174" y="2456688"/>
            <a:ext cx="867017" cy="5120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56174" y="2456688"/>
            <a:ext cx="867017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60192"/>
            <a:ext cx="1188720" cy="512064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3060192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CAMEL*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0" y="3060192"/>
            <a:ext cx="10451592" cy="512064"/>
          </a:xfrm>
          <a:prstGeom prst="rect">
            <a:avLst/>
          </a:prstGeom>
          <a:solidFill>
            <a:srgbClr val="F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63040" y="3133344"/>
            <a:ext cx="10268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B2D8B"/>
                </a:solidFill>
                <a:latin typeface="Calibri"/>
              </a:rPr>
              <a:t>foundation-camel-starter  (extension v2)  ·  EIP · Splitter · Aggregator · Dead Letter · Routes event-driven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663696"/>
            <a:ext cx="1188720" cy="51206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663696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FONDATION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0" y="3663696"/>
            <a:ext cx="3422904" cy="51206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3663696"/>
            <a:ext cx="3422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foundation-parent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85944" y="3663696"/>
            <a:ext cx="3422904" cy="51206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85944" y="3663696"/>
            <a:ext cx="3422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foundation-bom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00288" y="3663696"/>
            <a:ext cx="3422904" cy="51206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0288" y="3663696"/>
            <a:ext cx="3422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foundation-common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267200"/>
            <a:ext cx="1188720" cy="512064"/>
          </a:xfrm>
          <a:prstGeom prst="rect">
            <a:avLst/>
          </a:prstGeom>
          <a:solidFill>
            <a:srgbClr val="1B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267200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ECOSYSTEM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600" y="4267200"/>
            <a:ext cx="2017166" cy="512064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71600" y="4267200"/>
            <a:ext cx="201716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Gravitee API GW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80206" y="4267200"/>
            <a:ext cx="2017166" cy="512064"/>
          </a:xfrm>
          <a:prstGeom prst="rect">
            <a:avLst/>
          </a:prstGeom>
          <a:solidFill>
            <a:srgbClr val="0A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80206" y="4267200"/>
            <a:ext cx="201716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PostgreSQL + Flyway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88812" y="4267200"/>
            <a:ext cx="2017166" cy="512064"/>
          </a:xfrm>
          <a:prstGeom prst="rect">
            <a:avLst/>
          </a:prstGeom>
          <a:solidFill>
            <a:srgbClr val="4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88812" y="4267200"/>
            <a:ext cx="201716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NATS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97419" y="4267200"/>
            <a:ext cx="2017166" cy="512064"/>
          </a:xfrm>
          <a:prstGeom prst="rect">
            <a:avLst/>
          </a:prstGeom>
          <a:solidFill>
            <a:srgbClr val="7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97419" y="4267200"/>
            <a:ext cx="201716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OpenTelemetry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06025" y="4267200"/>
            <a:ext cx="2017166" cy="512064"/>
          </a:xfrm>
          <a:prstGeom prst="rect">
            <a:avLst/>
          </a:prstGeom>
          <a:solidFill>
            <a:srgbClr val="2A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06025" y="4267200"/>
            <a:ext cx="201716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GitLab CI + Helm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1600" y="491642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B2D8B"/>
                </a:solidFill>
                <a:latin typeface="Calibri"/>
              </a:rPr>
              <a:t>* Extension planifiée — dependency-driven, non incluse par défaut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Gouvernance Build — Parent, BOM, Common, Archetype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24280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24280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15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334008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foundation-parent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643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12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Plugins Maven centralisés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661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929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Java 21 unifié sur tous les 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678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947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Checkstyle + SpotBugs + JaCoCo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9616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96464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Aucune dépendance runtime imposée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1224280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1224280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315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2844" y="1334008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foundation-bom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8643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3076" y="17912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Versions cohérentes sur tout le parc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21661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3076" y="20929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Spring Boot 4.1 · Jakarta EE 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4678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23947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CVE patchées en 1 commit BOM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2769616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3076" y="2696464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Zéro conflit de versions entre équipes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94328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94328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85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004056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foundation-common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534408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461256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Utilitaires partagés entre starters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8361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7630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CorrelationId · Envelopes · Helpers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1379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0647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Pas de dépendances métier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396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3665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Utilisé uniquement par les starters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4476" y="3894328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4476" y="3894328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5916" y="3985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2844" y="4004056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foundation-archetype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1636" y="4534408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3076" y="4461256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Génère structure hexagonale complète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1636" y="48361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3076" y="47630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domain / application / infrastructure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1636" y="51379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3076" y="50647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Capabilities sélectionnables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1636" y="54396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6" y="53665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Dockerfile + .gitlab-ci.yml inclus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Runtime — Core, API, Security,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24280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24280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15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334008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foundation-core-starter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643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12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Baseline Spring Boot auto-configuration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661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929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X-Correlation-Id propagé automatiquement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678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947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Tracabilité end-to-end sans boilerplate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9616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96464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Socle de tous les autres starters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1224280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1224280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315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2844" y="1334008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foundation-api-starter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8643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3076" y="17912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Format d'erreur unifié — RFC 9457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21661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3076" y="20929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@ControllerAdvice global inclus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4678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23947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Validation Bean Validation intégrée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2769616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3076" y="2696464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Même format d'erreur sur 100% des services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94328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94328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85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004056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foundation-security-starter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534408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461256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OAuth2 Resource Server + JWT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8361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7630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Tous endpoints protégés par défaut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1379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0647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IDP-agnostic — Keycloak, Azure AD, Okta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396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3665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/actuator/health toujours public (K8s)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4476" y="3894328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4476" y="3894328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5916" y="3985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2844" y="4004056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foundation-logging-starter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1636" y="4534408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3076" y="4461256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Logs JSON structurés — ELK, Loki, Splunk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1636" y="48361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3076" y="47630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Correlation ID dans chaque log 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1636" y="51379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3076" y="50647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Propagé aux appels sortants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1636" y="54396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6" y="53665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Aucune donnée sensible loggée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Runtime — Observability, Mapping, Data,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24280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24280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15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334008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foundation-observability-starter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643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12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Actuator : health · metrics · prometheus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661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929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Liveness + Readiness probes K8s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678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947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Micrometer + OpenTelemetry (OTLP)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9616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96464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Compatible Grafana, Jaeger, Zipkin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1224280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1224280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315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2844" y="1334008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foundation-mapping-starter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8643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3076" y="17912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MapStruct configuré Spring 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21661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3076" y="20929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DTO ↔ Entity sans réflexion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4678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23947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Null-safe, immutable, type-safe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2769616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3076" y="2696464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Zéro boilerplate de mapping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94328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94328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85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004056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foundation-data-starter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534408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461256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ddl-auto=validate — schéma protégé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8361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7630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Flyway — migrations SQL versionées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1379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0647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JPA Auditing — createdAt/updatedAt auto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396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3665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open-in-view=false — pas de lazy leaks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4476" y="3894328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4476" y="3894328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5916" y="3985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2844" y="4004056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foundation-test-starter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1636" y="4534408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3076" y="4461256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Testcontainers : PostgreSQL, NATS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1636" y="48361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3076" y="47630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WireMock pour mocks HTTP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1636" y="51379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3076" y="50647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Slices Spring Boot pre-configurées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1636" y="54396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6" y="53665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JaCoCo — couverture dans le CI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Messaging &amp; Intégration — NATS, HTTP, SOAP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98880"/>
            <a:ext cx="5591556" cy="51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98880"/>
            <a:ext cx="5591556" cy="475488"/>
          </a:xfrm>
          <a:prstGeom prst="rect">
            <a:avLst/>
          </a:prstGeom>
          <a:solidFill>
            <a:srgbClr val="4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53744"/>
            <a:ext cx="53172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foundation-nats-starter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93240"/>
            <a:ext cx="45720" cy="320040"/>
          </a:xfrm>
          <a:prstGeom prst="rect">
            <a:avLst/>
          </a:prstGeom>
          <a:solidFill>
            <a:srgbClr val="4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93240"/>
            <a:ext cx="51800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4E8A"/>
                </a:solidFill>
                <a:latin typeface="Calibri"/>
              </a:rPr>
              <a:t>NATS — Messaging léger haute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7288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Connexion NATS managée — auto-close au shutdown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06472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NatsMessagePublisher — publish en 1 ligne de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5656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Enveloppe standard : id, correlationId, source, type, 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64840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Correlation ID automatiquement injecté dans chaque message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48888"/>
            <a:ext cx="5317236" cy="127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76904"/>
            <a:ext cx="45720" cy="320040"/>
          </a:xfrm>
          <a:prstGeom prst="rect">
            <a:avLst/>
          </a:prstGeom>
          <a:solidFill>
            <a:srgbClr val="4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76904"/>
            <a:ext cx="51800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4E8A"/>
                </a:solidFill>
                <a:latin typeface="Calibri"/>
              </a:rPr>
              <a:t>Comparaison MQ webMethods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60952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Latence NATS &lt; 1ms vs ESB &gt; 10ms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90136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NATS JetStream = persistance + replay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19320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Broker léger — container &lt; 20MB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48504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Pas de licence, pas de console propriétaire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198880"/>
            <a:ext cx="5591556" cy="51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198880"/>
            <a:ext cx="5591556" cy="475488"/>
          </a:xfrm>
          <a:prstGeom prst="rect">
            <a:avLst/>
          </a:prstGeom>
          <a:solidFill>
            <a:srgbClr val="0A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8796" y="1253744"/>
            <a:ext cx="53172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HTTP &amp; SOAP Clients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8796" y="1793240"/>
            <a:ext cx="45720" cy="320040"/>
          </a:xfrm>
          <a:prstGeom prst="rect">
            <a:avLst/>
          </a:prstGeom>
          <a:solidFill>
            <a:srgbClr val="0A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5956" y="1793240"/>
            <a:ext cx="51800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4E8A"/>
                </a:solidFill>
                <a:latin typeface="Calibri"/>
              </a:rPr>
              <a:t>foundation-http-client-starter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0236" y="2177288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WebClient non-bloquant pré-configuré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0236" y="2506472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Support clients générés par OpenAPI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0236" y="2835656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Correlation ID propagé vers services tiers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3164840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Timeout, retry, logs des appels sortants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8796" y="3548888"/>
            <a:ext cx="5317236" cy="127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68796" y="3676904"/>
            <a:ext cx="45720" cy="320040"/>
          </a:xfrm>
          <a:prstGeom prst="rect">
            <a:avLst/>
          </a:prstGeom>
          <a:solidFill>
            <a:srgbClr val="0A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5956" y="3676904"/>
            <a:ext cx="51800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4E8A"/>
                </a:solidFill>
                <a:latin typeface="Calibri"/>
              </a:rPr>
              <a:t>foundation-soap-client-starter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060952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Apache CXF configuré pour clients WSDL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0236" y="4390136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Clients générés par wsdl2java (plugin Maven)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0236" y="4719320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Correlation ID propagé en SOAP header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5048504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Coexistence native SOAP + REST — 0 ré-écriture forcée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18288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3000" b="1" i="0">
                <a:solidFill>
                  <a:srgbClr val="1A60B0"/>
                </a:solidFill>
                <a:latin typeface="Calibri Light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32004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Developer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2E0"/>
                </a:solidFill>
                <a:latin typeface="Calibri Light"/>
              </a:rPr>
              <a:t>De zéro à un service production-ready en une commande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 Light"/>
              </a:rPr>
              <a:t>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Maven Archetype — Un Service Opérationnel en 30 Secondes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24280"/>
            <a:ext cx="5577840" cy="5166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24280"/>
            <a:ext cx="5577840" cy="43891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75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8B8"/>
                </a:solidFill>
                <a:latin typeface="Courier New"/>
              </a:rPr>
              <a:t>$ Terminal — Génération d'un nouveau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ourier New"/>
              </a:rPr>
              <a:t>mvn archetype:generate \
  -DarchetypeArtifactId=foundation-archetype \
  -DgroupId=fr.company.myteam \
  -DartifactId=billing-service \
  -DserviceName=BillingService \
  -Dcapabilities=data,nats,http-client \
  -DinteractiveMode=false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A623"/>
                </a:solidFill>
                <a:latin typeface="Calibri"/>
              </a:rPr>
              <a:t>Structure générée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2E0"/>
                </a:solidFill>
                <a:latin typeface="Courier New"/>
              </a:rPr>
              <a:t>billing-service/
├── domain/
│   ├── model/
│   ├── port/in/   port/out/
│   └── service/
├── application/usecase/
└── infrastructure/
    ├── adapter/in/web/
    ├── adapter/in/messaging/
    ├── adapter/out/persistence/
    └── config/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Inclus automatiquement 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5605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4864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282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 Light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7282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Security OAuth2/JWT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728216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Activé, prêt à configurer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112264"/>
            <a:ext cx="5605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112264"/>
            <a:ext cx="54864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 Light"/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Logging structuré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148840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X-Correlation-Id propagé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532888"/>
            <a:ext cx="5605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532888"/>
            <a:ext cx="54864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56946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 Light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5694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Observabilité Actuator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569464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Probes K8s + Prometheus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953512"/>
            <a:ext cx="5605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53512"/>
            <a:ext cx="54864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99008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 Light"/>
              </a:rPr>
              <a:t>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990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API conventions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2990088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Error handling RFC 9457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374136"/>
            <a:ext cx="5605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374136"/>
            <a:ext cx="54864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41071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 Light"/>
              </a:rPr>
              <a:t>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410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MapStruct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3410712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DTO mapping configuré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794760"/>
            <a:ext cx="5605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794760"/>
            <a:ext cx="54864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83133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 Light"/>
              </a:rPr>
              <a:t>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38313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Test helpers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3831336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Testcontainers + WireMock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261104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Optionnel via -Dcapabilities= 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626864"/>
            <a:ext cx="56052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4626864"/>
            <a:ext cx="54864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64515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 Light"/>
              </a:rPr>
              <a:t>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6451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464515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JPA + Flyway + PostgreSQL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010912"/>
            <a:ext cx="56052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5010912"/>
            <a:ext cx="54864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502920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 Light"/>
              </a:rPr>
              <a:t>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50292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nats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5029200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NATS publisher + envelopes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394960"/>
            <a:ext cx="56052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5394960"/>
            <a:ext cx="54864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541324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 Light"/>
              </a:rPr>
              <a:t>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54132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http-client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80" y="541324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WebClient + OpenAPI gen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5779008"/>
            <a:ext cx="56052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5779008"/>
            <a:ext cx="54864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579729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 Light"/>
              </a:rPr>
              <a:t>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579729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soap-client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80" y="5797296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CXF + WSDL gen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18288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3000" b="1" i="0">
                <a:solidFill>
                  <a:srgbClr val="1A60B0"/>
                </a:solidFill>
                <a:latin typeface="Calibri Light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32004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Bénéfices &amp; Valeur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2E0"/>
                </a:solidFill>
                <a:latin typeface="Calibri Light"/>
              </a:rPr>
              <a:t>Ce que le socle change concrètement pour les équipes et le business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Bénéfices — Ce que le Socle Apporte Concrètement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24280"/>
            <a:ext cx="2727198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24280"/>
            <a:ext cx="2727198" cy="6400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61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 Light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55800"/>
            <a:ext cx="250774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Vélocité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413000"/>
            <a:ext cx="2507742" cy="6583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458720"/>
            <a:ext cx="239801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Premier service : &lt; 1 journée
vs plusieurs semaines sans socle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3235960"/>
            <a:ext cx="36576" cy="18288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3144520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Archetype génère le squelette en 30s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3620008"/>
            <a:ext cx="36576" cy="18288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528568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Sécurité, logs, observabilité : déjà là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4004056"/>
            <a:ext cx="36576" cy="18288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912616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Équipe focus sur le métier dès J1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0974" y="1224280"/>
            <a:ext cx="2727198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20974" y="1224280"/>
            <a:ext cx="272719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0702" y="1361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 Light"/>
              </a:rPr>
              <a:t>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0702" y="1955800"/>
            <a:ext cx="250774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Gouvernance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0702" y="2413000"/>
            <a:ext cx="2507742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5566" y="2458720"/>
            <a:ext cx="239801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Standards enforced by design,
pas par convention manuelle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48990" y="3235960"/>
            <a:ext cx="3657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0430" y="3144520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OAuth2 activé par défaut — impossible d'oublier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48990" y="3620008"/>
            <a:ext cx="3657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0430" y="3528568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CVE patchées en 1 commit BOM → propagées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48990" y="4004056"/>
            <a:ext cx="3657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0430" y="3912616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Corrélation ID partout — debugging simplifié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76188" y="1224280"/>
            <a:ext cx="2727198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76188" y="1224280"/>
            <a:ext cx="2727198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1361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 Light"/>
              </a:rPr>
              <a:t>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5916" y="1955800"/>
            <a:ext cx="250774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Réduction TCO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5916" y="2413000"/>
            <a:ext cx="2507742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0780" y="2458720"/>
            <a:ext cx="239801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Moins de code dupliqué,
moins de dette technique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4204" y="3235960"/>
            <a:ext cx="36576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5644" y="3144520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Zéro code infra dans les services métier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4204" y="3620008"/>
            <a:ext cx="36576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5644" y="3528568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Mises à jour centralisées — pas service par service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4204" y="4004056"/>
            <a:ext cx="36576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5644" y="3912616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Compétences standard Spring Boot — recrutement facilité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31402" y="1224280"/>
            <a:ext cx="2727198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31402" y="1224280"/>
            <a:ext cx="2727198" cy="6400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41130" y="1361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 Light"/>
              </a:rPr>
              <a:t>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1130" y="1955800"/>
            <a:ext cx="250774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Scalabilité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41130" y="2413000"/>
            <a:ext cx="2507742" cy="65836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5994" y="2458720"/>
            <a:ext cx="239801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Cloud-native dès le départ,
Kubernetes-ready out-of-the-box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9418" y="3235960"/>
            <a:ext cx="36576" cy="1828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50858" y="3144520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Probes K8s via Actuator — inclus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9418" y="3620008"/>
            <a:ext cx="36576" cy="1828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50858" y="3528568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Scale horizontal sans modification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9418" y="4004056"/>
            <a:ext cx="36576" cy="1828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50858" y="3912616"/>
            <a:ext cx="237972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NATS JetStream — messaging haute perf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2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Stratégie de Migration — Approche Incrémentale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98880"/>
            <a:ext cx="5591556" cy="51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98880"/>
            <a:ext cx="5591556" cy="47548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53744"/>
            <a:ext cx="53172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Pattern Strangler Fig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93240"/>
            <a:ext cx="45720" cy="32004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93240"/>
            <a:ext cx="51800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4E8A"/>
                </a:solidFill>
                <a:latin typeface="Calibri"/>
              </a:rPr>
              <a:t>Principe — Coexistence sans rupture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7288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Nouveau service Spring Boot capture un flux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06472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Ancien système redirige progressivement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5656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Rollback possible à tout moment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64840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Pas de migration big bang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48888"/>
            <a:ext cx="5317236" cy="127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76904"/>
            <a:ext cx="45720" cy="32004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76904"/>
            <a:ext cx="51800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4E8A"/>
                </a:solidFill>
                <a:latin typeface="Calibri"/>
              </a:rPr>
              <a:t>Phase 1 — Fondation (M1-M3)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60952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Déploiement socle + formation équipes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90136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2-3 services pilotes avec l'archetype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19320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Validation sécurité, NATS,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103368"/>
            <a:ext cx="5317236" cy="127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231384"/>
            <a:ext cx="45720" cy="32004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31384"/>
            <a:ext cx="51800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4E8A"/>
                </a:solidFill>
                <a:latin typeface="Calibri"/>
              </a:rPr>
              <a:t>Phase 2 — Migration (M3-M12)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15432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Flux identifiés un à un, migrés par sprint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44616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Chaque nouveau service remplace un module legacy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273800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Libération progressive des licences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1636" y="1198880"/>
            <a:ext cx="5591556" cy="51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1198880"/>
            <a:ext cx="5591556" cy="47548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8796" y="1253744"/>
            <a:ext cx="53172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Risques &amp; Mitigations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68796" y="1793240"/>
            <a:ext cx="45720" cy="32004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5956" y="1793240"/>
            <a:ext cx="51800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4E8A"/>
                </a:solidFill>
                <a:latin typeface="Calibri"/>
              </a:rPr>
              <a:t>Compétences Spring Boot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2177288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Socle documenté — comprehensible en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2506472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Vivier de devs Spring Boot massif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2835656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Formation accélérée avec l'archetype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68796" y="3219704"/>
            <a:ext cx="5317236" cy="127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68796" y="3347720"/>
            <a:ext cx="45720" cy="32004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5956" y="3347720"/>
            <a:ext cx="51800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4E8A"/>
                </a:solidFill>
                <a:latin typeface="Calibri"/>
              </a:rPr>
              <a:t>Régression fonctionnelle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3731768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test-starter Testcontainers + WireMock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0236" y="4060952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Tests d'intégration automatisés dès J1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0236" y="4390136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Feature flags pendant la coexistence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68796" y="4774184"/>
            <a:ext cx="5317236" cy="127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68796" y="4902200"/>
            <a:ext cx="45720" cy="32004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5956" y="4902200"/>
            <a:ext cx="51800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4E8A"/>
                </a:solidFill>
                <a:latin typeface="Calibri"/>
              </a:rPr>
              <a:t>Gouvernance distribuée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0236" y="5286248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Socle enforce les standards by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0236" y="5615432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BOM centralise les versions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0236" y="5944616"/>
            <a:ext cx="52257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• Impossible d'oublier sécurité ou logs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 Light"/>
              </a:rPr>
              <a:t>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FAQ — Questions Anticipées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24280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24280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157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97432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Le socle force-t-il une techno sur tous les services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4632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Non — composition par dépendances. Chaque service choisit ses starters.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1224280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224280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3157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1297432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Peut-on overrider un comportement du socle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754632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Oui — tous les beans sont @ConditionalOnMissingBean. Surcharge totale possible.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7698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7698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09913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80850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Comment gérer la montée de version du socle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38050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BOM centralisé — 1 ligne dans le pom.xml du service. Propagation automatique.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007698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007698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309913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3080850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Le socle fonctionne-t-il avec notre IDP existant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3538050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Oui — IDP-agnostic. Keycloak, Azure AD, Okta, Ping : tout OIDC fonctionne.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91117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791117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882557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64269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Les services SOAP legacy doivent-ils être ré-écrits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21469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Non — foundation-soap-client-starter permet la coexistence SOAP + REST native.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91117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91117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4882557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0256" y="4864269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Camel est-il inclus par défaut dans le socle 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5321469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Non — extension planifiée en v2. Activé uniquement via dépendance si besoin EIP avéré.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18288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3000" b="1" i="0">
                <a:solidFill>
                  <a:srgbClr val="1A60B0"/>
                </a:solidFill>
                <a:latin typeface="Calibri Light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32004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SECTION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Extension — Apache Camel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2E0"/>
                </a:solidFill>
                <a:latin typeface="Calibri Light"/>
              </a:rPr>
              <a:t>Une capacité d'intégration avancée portée naturellement par le socle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 Light"/>
              </a:rPr>
              <a:t>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Pourquoi Camel s'intègre Naturellement au Socle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98880"/>
            <a:ext cx="11457432" cy="51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81760"/>
            <a:ext cx="54864" cy="34747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1760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4E8A"/>
                </a:solidFill>
                <a:latin typeface="Calibri"/>
              </a:rPr>
              <a:t>Le socle fournit déjà les briques qu'utilise Camel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84096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Security starter → sécurise les endpoints Camel REST DSL sans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22424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Logging starter → Correlation ID propagé dans toutes les routes Camel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60752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Observability starter → métriques Camel exposées dans Grafana automatiquement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99080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NATS starter → routes Camel event-driven natives via le Camel NATS component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10560"/>
            <a:ext cx="11091672" cy="127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38576"/>
            <a:ext cx="54864" cy="34747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8576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4E8A"/>
                </a:solidFill>
                <a:latin typeface="Calibri"/>
              </a:rPr>
              <a:t>Ce que Camel apporterait en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40912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Enterprise Integration Patterns (EIP) — Splitter, Aggregator, Content-Based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79240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Dead Letter Channel — gestion d'erreurs avancée sur les flux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17568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Orchestration de flux complexes — équivalent direct des processflows webMethods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755896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300+ composants Camel — connecteurs out-of-the-box (FTP, S3, Kafka, JMS…)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67376"/>
            <a:ext cx="11091672" cy="127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295392"/>
            <a:ext cx="54864" cy="34747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95392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4E8A"/>
                </a:solidFill>
                <a:latin typeface="Calibri"/>
              </a:rPr>
              <a:t>Approche recommandée — foundation-camel-starter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97728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Un starter dédié, optionnel, activé uniquement via dépendance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36056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Principe #1 du socle respecté — composition par dépendances, pas par défaut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74384"/>
            <a:ext cx="109087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• Les services sans besoins EIP ne sont pas impactés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Apache Camel — Analyse Comparative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  <a:latin typeface="Calibri"/>
              </a:rPr>
              <a:t>Choix d'architecture pour l'extension du socle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24280"/>
            <a:ext cx="5591556" cy="513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24280"/>
            <a:ext cx="5591556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8288"/>
            <a:ext cx="53172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✓  Camel + Spring Boot  (Recommandé)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10080"/>
            <a:ext cx="4572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81864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Intégration native dans l'écosystème Spring Boot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75840"/>
            <a:ext cx="4572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440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Bénéficie de TOUS les starters du socle sans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41600"/>
            <a:ext cx="4572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55016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DI Spring — injection de services métier dans les routes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07360"/>
            <a:ext cx="4572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1592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Déploiement K8s identique aux autres microservices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73120"/>
            <a:ext cx="4572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28168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Actuator health check Camel exposé automatiquement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38880"/>
            <a:ext cx="4572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4744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Auto-configuration Camel Spring Boot Starter disponible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04640"/>
            <a:ext cx="4572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01320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Communauté massive, documentation abondante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52112"/>
            <a:ext cx="5317236" cy="12700"/>
          </a:xfrm>
          <a:prstGeom prst="rect">
            <a:avLst/>
          </a:prstGeom>
          <a:solidFill>
            <a:srgbClr val="D0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653280"/>
            <a:ext cx="4572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56184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Tests avec CamelSpringBootRunner + Testcontainers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19040"/>
            <a:ext cx="4572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92760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Même pipeline CI/CD que les autres services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84800"/>
            <a:ext cx="45720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29336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Monitoring Camel dans les dashboards Grafana existants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1636" y="1224280"/>
            <a:ext cx="5591556" cy="513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1224280"/>
            <a:ext cx="5591556" cy="4754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8796" y="1288288"/>
            <a:ext cx="53172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△  Camel Standalone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68796" y="1910080"/>
            <a:ext cx="45720" cy="20116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181864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Démarrage du contexte Spring plus lourd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8796" y="2275840"/>
            <a:ext cx="45720" cy="20116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7668" y="218440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Overhead mémoire marginal vs Camel seul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8796" y="2641600"/>
            <a:ext cx="45720" cy="20116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7668" y="255016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Aucun avantage pour des flux ultra-simples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8796" y="3007360"/>
            <a:ext cx="45720" cy="20116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7668" y="291592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Montée en compétences Spring nécessaire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68796" y="3354832"/>
            <a:ext cx="5317236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68796" y="3556000"/>
            <a:ext cx="45720" cy="20116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7668" y="346456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Isolation totale (avantage si voulu)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68796" y="3921760"/>
            <a:ext cx="45720" cy="20116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383032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Déploiement indépendant du cycle Spring Boot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68796" y="4287520"/>
            <a:ext cx="45720" cy="20116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87668" y="419608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Pas d'accès natif aux beans Spring métier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68796" y="4653280"/>
            <a:ext cx="45720" cy="20116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7668" y="456184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Logs et métriques isolés — perte de corrélation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68796" y="5019040"/>
            <a:ext cx="45720" cy="20116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7668" y="492760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Pipeline CI/CD séparé à maintenir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68796" y="5384800"/>
            <a:ext cx="45720" cy="20116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7668" y="529336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Pas d'intégration avec le BOM du socle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Camel + Foundation Platform — Cas d'Usage Concrets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24280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24280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15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334008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Orchestration de Flux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643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12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Remplacement direct des processflows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661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929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Splitter : découpage de messages 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678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947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Aggregator : consolidation multi-sources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9616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96464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Content-Based Router : routage métier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1224280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1224280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315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2844" y="1334008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Gestion d'Erreurs Avancée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8643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3076" y="17912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Dead Letter Channel configuré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21661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3076" y="20929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Retry avec backoff exponentiel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4678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23947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Circuit Breaker via Resilience4j Camel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2769616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3076" y="2696464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Alerting sur les queues en erreur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94328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94328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85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004056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Event-Driven Avancé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534408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461256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Routes NATS JetStream avec Camel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8361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7630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Saga pattern — transactions distribuées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1379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0647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Correlation ID propagé dans les routes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396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3665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Replay de messages via JetStream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4476" y="3894328"/>
            <a:ext cx="559155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4476" y="3894328"/>
            <a:ext cx="64008" cy="25603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5916" y="3985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 Light"/>
              </a:rPr>
              <a:t>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2844" y="4004056"/>
            <a:ext cx="48143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1B2A"/>
                </a:solidFill>
                <a:latin typeface="Calibri"/>
              </a:rPr>
              <a:t>Connectivité Legacy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1636" y="4534408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3076" y="4461256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FTP/SFTP · S3 · Kafka · JMS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1636" y="4836160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3076" y="4763008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Remplacement des adapters webMethods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1636" y="5137912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3076" y="5064760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300+ composants disponibles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1636" y="5439664"/>
            <a:ext cx="36576" cy="20116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6" y="5366512"/>
            <a:ext cx="5225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Coexistence SOAP + REST + Messaging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RECOMMANDATION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Foundation Platform + Camel Spring Boot — La bonne stratégie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515600" cy="254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636264" cy="4526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636264" cy="6400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3361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E0"/>
                </a:solidFill>
                <a:latin typeface="Calibri"/>
              </a:rPr>
              <a:t>Phase 1 — Maintenant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33619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Déployer le socle Foundation Platform tel quel.
Les 11 starters couvrent 100% des besoins standard.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37560"/>
            <a:ext cx="36576" cy="18288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3270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Sécurité, logging, observabilité, data, NATS, HTTP/SOAP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21608"/>
            <a:ext cx="36576" cy="18288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30168"/>
            <a:ext cx="3270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Archetype génère les services en hexagonal immédiatement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05656"/>
            <a:ext cx="36576" cy="18288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14216"/>
            <a:ext cx="3270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Équipes autonomes dès la première semaine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0040" y="1828800"/>
            <a:ext cx="3636264" cy="4526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30040" y="1828800"/>
            <a:ext cx="3636264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7200" y="1965960"/>
            <a:ext cx="3361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Phase 2 — Si besoins EIP se confirment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200" y="2395728"/>
            <a:ext cx="33619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Ajouter foundation-camel-starter comme capacité optionnelle.
Décision pilotée par le backlog, pas par anticipation.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200" y="3337560"/>
            <a:ext cx="3657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8640" y="3246120"/>
            <a:ext cx="3270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Orchestration de flux complexes : Splitter, Aggregator, Saga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3721608"/>
            <a:ext cx="3657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8640" y="3630168"/>
            <a:ext cx="3270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Remplacement direct des processflows webMethods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7200" y="4105656"/>
            <a:ext cx="36576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8640" y="4014216"/>
            <a:ext cx="3270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Intégration native avec les starters existants (NATS, security, logs)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94320" y="1828800"/>
            <a:ext cx="3636264" cy="4526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94320" y="1828800"/>
            <a:ext cx="3636264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1480" y="1965960"/>
            <a:ext cx="3361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Principe directeur — Toujours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1480" y="2395728"/>
            <a:ext cx="33619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A8B8"/>
                </a:solidFill>
                <a:latin typeface="Calibri"/>
              </a:rPr>
              <a:t>Composition par dépendances.
Pas de Camel si le besoin n'est pas avéré.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1480" y="3337560"/>
            <a:ext cx="36576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2920" y="3246120"/>
            <a:ext cx="3270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Footprint minimal garanti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1480" y="3721608"/>
            <a:ext cx="36576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2920" y="3630168"/>
            <a:ext cx="3270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Camel activé uniquement dans les services qui en ont besoin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1480" y="4105656"/>
            <a:ext cx="36576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22920" y="4014216"/>
            <a:ext cx="3270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Le socle reste léger pour les 90% de services standards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Plan d'Action — De la Décision à la Valeur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84248"/>
            <a:ext cx="11457432" cy="381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65199" y="1856232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2549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Semaines 1-2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2651760"/>
            <a:ext cx="2145182" cy="3657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" y="2651760"/>
            <a:ext cx="2145182" cy="6400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2788920"/>
            <a:ext cx="19988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Kick-off &amp;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3337560"/>
            <a:ext cx="199887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AA8B8"/>
                </a:solidFill>
                <a:latin typeface="Calibri"/>
              </a:rPr>
              <a:t>Déploiement du socle
Formation équipes
Setup CI/CD
Premier service généré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20109" y="1856232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0670" y="2240280"/>
            <a:ext cx="22549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Sprint 1-2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5534" y="2651760"/>
            <a:ext cx="2145182" cy="3657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5534" y="2651760"/>
            <a:ext cx="2145182" cy="6400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8686" y="2788920"/>
            <a:ext cx="19988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Services Pilotes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8686" y="3337560"/>
            <a:ext cx="199887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AA8B8"/>
                </a:solidFill>
                <a:latin typeface="Calibri"/>
              </a:rPr>
              <a:t>2-3 services avec archetype
Validation patterns
Sécurité + Logs + Observabilité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75020" y="1856232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5580" y="2240280"/>
            <a:ext cx="22549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Sprint 3-6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0444" y="2651760"/>
            <a:ext cx="2145182" cy="3657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0444" y="2651760"/>
            <a:ext cx="2145182" cy="6400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3596" y="2788920"/>
            <a:ext cx="19988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Migration Batch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3596" y="3337560"/>
            <a:ext cx="199887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AA8B8"/>
                </a:solidFill>
                <a:latin typeface="Calibri"/>
              </a:rPr>
              <a:t>5-10 flux migrés
NATS replace MQ legacy
Dashboards Grafana actifs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9930" y="1856232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0491" y="2240280"/>
            <a:ext cx="22549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Sprint 7-12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85355" y="2651760"/>
            <a:ext cx="2145182" cy="3657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5355" y="2651760"/>
            <a:ext cx="2145182" cy="6400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8507" y="2788920"/>
            <a:ext cx="19988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Scale &amp; Camel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8507" y="3337560"/>
            <a:ext cx="199887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AA8B8"/>
                </a:solidFill>
                <a:latin typeface="Calibri"/>
              </a:rPr>
              <a:t>20+ services migrés
Évaluation besoins EIP
Décision foundation-camel-starter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84840" y="1856232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5401" y="2240280"/>
            <a:ext cx="22549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M12+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0265" y="2651760"/>
            <a:ext cx="2145182" cy="3657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40265" y="2651760"/>
            <a:ext cx="2145182" cy="6400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3417" y="2788920"/>
            <a:ext cx="19988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Industrialisation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13417" y="3337560"/>
            <a:ext cx="199887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AA8B8"/>
                </a:solidFill>
                <a:latin typeface="Calibri"/>
              </a:rPr>
              <a:t>Décommission planifiée
ROI mesuré
Socle v2 si Camel validé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 Light"/>
              </a:rPr>
              <a:t>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FAQ — Questions Anticipées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24280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24280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157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97432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Le socle force-t-il une techno sur tous les services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4632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Non — composition par dépendances. Chaque service choisit ses starters.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1224280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224280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3157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1297432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Peut-on overrider un comportement du socle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754632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Oui — tous les beans sont @ConditionalOnMissingBean. Surcharge totale possible.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7698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7698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09913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80850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Comment gérer la montée de version du socle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38050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BOM centralisé — 1 ligne dans le pom.xml du service. Propagation automatique.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007698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007698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309913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3080850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Le socle fonctionne-t-il avec notre IDP existant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3538050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Oui — IDP-agnostic. Keycloak, Azure AD, Okta, Ping : tout OIDC fonctionne.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91117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791117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882557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64269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Les services SOAP legacy doivent-ils être ré-écrits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21469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Non — foundation-soap-client-starter permet la coexistence SOAP + REST native.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91117"/>
            <a:ext cx="5660136" cy="1664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91117"/>
            <a:ext cx="54864" cy="166454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4882557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E0"/>
                </a:solidFill>
                <a:latin typeface="Calibri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0256" y="4864269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Camel est-il inclus par défaut dans le socle 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5321469"/>
            <a:ext cx="5385816" cy="107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A4A"/>
                </a:solidFill>
                <a:latin typeface="Calibri"/>
              </a:rPr>
              <a:t>Non — extension planifiée en v2. Activé uniquement via dépendance si besoin EIP avéré.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94500"/>
            <a:ext cx="12188952" cy="635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89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6952" y="0"/>
            <a:ext cx="4572000" cy="6858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2" y="0"/>
            <a:ext cx="4572000" cy="889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 Light"/>
              </a:rPr>
              <a:t>Merci.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2E0"/>
                </a:solidFill>
                <a:latin typeface="Calibri Light"/>
              </a:rPr>
              <a:t>Questions · Discussion · Prochaines Étapes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94760"/>
            <a:ext cx="41148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8"/>
                </a:solidFill>
                <a:latin typeface="Calibri"/>
              </a:rPr>
              <a:t>Foundation Platform · Spring Boot 4.1 · Java 21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8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